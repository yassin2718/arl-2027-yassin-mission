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926865-CE7F-277A-41A4-B73AAAB7E74D}" v="61" dt="2026-08-21T04:01:46.4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140753CE-E1BC-4694-A51E-77ED24180326}" type="datetimeFigureOut">
              <a:t>8/20/2026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75AF3959-66ED-43B1-99C0-3EFD77FC68CB}" type="slidenum">
              <a:t>‹#›</a:t>
            </a:fld>
            <a:endParaRPr lang="en-US"/>
          </a:p>
        </p:txBody>
      </p:sp>
    </p:spTree>
    <p:extLst>
      <p:ext uri="{BB962C8B-B14F-4D97-AF65-F5344CB8AC3E}">
        <p14:creationId xmlns:p14="http://schemas.microsoft.com/office/powerpoint/2010/main" val="2791086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8778240" y="-2011680"/>
            <a:ext cx="6400800" cy="6400800"/>
          </a:xfrm>
          <a:prstGeom prst="ellipse">
            <a:avLst/>
          </a:prstGeom>
          <a:ln w="19050">
            <a:solidFill>
              <a:srgbClr val="2A3245"/>
            </a:solidFill>
            <a:prstDash val="solid"/>
          </a:ln>
        </p:spPr>
      </p:sp>
      <p:sp>
        <p:nvSpPr>
          <p:cNvPr id="3" name="Shape 1"/>
          <p:cNvSpPr/>
          <p:nvPr/>
        </p:nvSpPr>
        <p:spPr>
          <a:xfrm>
            <a:off x="9418320" y="-1371600"/>
            <a:ext cx="5120640" cy="5120640"/>
          </a:xfrm>
          <a:prstGeom prst="ellipse">
            <a:avLst/>
          </a:prstGeom>
          <a:ln w="19050">
            <a:solidFill>
              <a:srgbClr val="E63946"/>
            </a:solidFill>
            <a:prstDash val="solid"/>
          </a:ln>
        </p:spPr>
      </p:sp>
      <p:sp>
        <p:nvSpPr>
          <p:cNvPr id="4" name="Text 2"/>
          <p:cNvSpPr/>
          <p:nvPr/>
        </p:nvSpPr>
        <p:spPr>
          <a:xfrm>
            <a:off x="822960" y="1965960"/>
            <a:ext cx="9144000" cy="365760"/>
          </a:xfrm>
          <a:prstGeom prst="rect">
            <a:avLst/>
          </a:prstGeom>
          <a:noFill/>
          <a:ln/>
        </p:spPr>
        <p:txBody>
          <a:bodyPr wrap="square" lIns="91440" tIns="45720" rIns="91440" bIns="45720" rtlCol="0" anchor="ctr"/>
          <a:lstStyle/>
          <a:p>
            <a:pPr marL="0" indent="0">
              <a:buNone/>
            </a:pPr>
            <a:r>
              <a:rPr lang="en-US" sz="1400" b="1" kern="0" spc="300">
                <a:solidFill>
                  <a:srgbClr val="E63946"/>
                </a:solidFill>
                <a:latin typeface="Calibri"/>
                <a:ea typeface="Calibri"/>
                <a:cs typeface="Calibri"/>
              </a:rPr>
              <a:t>LITERATURE READING SECTION</a:t>
            </a:r>
            <a:endParaRPr lang="en-US" sz="1400" dirty="0"/>
          </a:p>
        </p:txBody>
      </p:sp>
      <p:sp>
        <p:nvSpPr>
          <p:cNvPr id="5" name="Text 3"/>
          <p:cNvSpPr/>
          <p:nvPr/>
        </p:nvSpPr>
        <p:spPr>
          <a:xfrm>
            <a:off x="822960" y="2377440"/>
            <a:ext cx="10515600" cy="82296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AMZ Driverless:</a:t>
            </a:r>
            <a:endParaRPr lang="en-US" sz="4400" dirty="0"/>
          </a:p>
        </p:txBody>
      </p:sp>
      <p:sp>
        <p:nvSpPr>
          <p:cNvPr id="6" name="Text 4"/>
          <p:cNvSpPr/>
          <p:nvPr/>
        </p:nvSpPr>
        <p:spPr>
          <a:xfrm>
            <a:off x="822960" y="3063240"/>
            <a:ext cx="10515600" cy="822960"/>
          </a:xfrm>
          <a:prstGeom prst="rect">
            <a:avLst/>
          </a:prstGeom>
          <a:noFill/>
          <a:ln/>
        </p:spPr>
        <p:txBody>
          <a:bodyPr wrap="square" lIns="0" tIns="0" rIns="0" bIns="0" rtlCol="0" anchor="ctr"/>
          <a:lstStyle/>
          <a:p>
            <a:pPr marL="0" indent="0">
              <a:buNone/>
            </a:pPr>
            <a:r>
              <a:rPr lang="en-US" sz="3400" b="1" dirty="0">
                <a:solidFill>
                  <a:srgbClr val="B7BDCC"/>
                </a:solidFill>
                <a:latin typeface="Cambria" pitchFamily="34" charset="0"/>
                <a:ea typeface="Cambria" pitchFamily="34" charset="-122"/>
                <a:cs typeface="Cambria" pitchFamily="34" charset="-120"/>
              </a:rPr>
              <a:t>The Full Autonomous Racing System</a:t>
            </a:r>
            <a:endParaRPr lang="en-US" sz="3400" dirty="0"/>
          </a:p>
        </p:txBody>
      </p:sp>
      <p:sp>
        <p:nvSpPr>
          <p:cNvPr id="7" name="Shape 5"/>
          <p:cNvSpPr/>
          <p:nvPr/>
        </p:nvSpPr>
        <p:spPr>
          <a:xfrm>
            <a:off x="822960" y="4160520"/>
            <a:ext cx="3931920" cy="0"/>
          </a:xfrm>
          <a:prstGeom prst="line">
            <a:avLst/>
          </a:prstGeom>
          <a:noFill/>
          <a:ln w="12700">
            <a:solidFill>
              <a:srgbClr val="2A3245"/>
            </a:solidFill>
            <a:prstDash val="solid"/>
          </a:ln>
        </p:spPr>
      </p:sp>
      <p:sp>
        <p:nvSpPr>
          <p:cNvPr id="8" name="Text 6"/>
          <p:cNvSpPr/>
          <p:nvPr/>
        </p:nvSpPr>
        <p:spPr>
          <a:xfrm>
            <a:off x="822960" y="4343400"/>
            <a:ext cx="9601200" cy="640080"/>
          </a:xfrm>
          <a:prstGeom prst="rect">
            <a:avLst/>
          </a:prstGeom>
          <a:noFill/>
          <a:ln/>
        </p:spPr>
        <p:txBody>
          <a:bodyPr wrap="square" lIns="91440" tIns="45720" rIns="91440" bIns="45720" rtlCol="0" anchor="ctr"/>
          <a:lstStyle/>
          <a:p>
            <a:r>
              <a:rPr lang="en-US" sz="1300" i="1">
                <a:solidFill>
                  <a:srgbClr val="8A91A6"/>
                </a:solidFill>
                <a:latin typeface="Calibri"/>
                <a:ea typeface="Calibri"/>
                <a:cs typeface="Calibri"/>
              </a:rPr>
              <a:t>A review of the perception, estimation, planning, and control system behind</a:t>
            </a:r>
            <a:endParaRPr lang="en-US" sz="1300">
              <a:solidFill>
                <a:srgbClr val="000000"/>
              </a:solidFill>
              <a:latin typeface="Calibri"/>
              <a:ea typeface="Calibri"/>
              <a:cs typeface="Calibri"/>
            </a:endParaRPr>
          </a:p>
          <a:p>
            <a:r>
              <a:rPr lang="en-US" sz="1300" i="1" dirty="0">
                <a:solidFill>
                  <a:srgbClr val="8A91A6"/>
                </a:solidFill>
                <a:latin typeface="Calibri"/>
                <a:ea typeface="Calibri"/>
                <a:cs typeface="Calibri"/>
              </a:rPr>
              <a:t>ETH Zürich's Formula Student Driverless racecar — </a:t>
            </a:r>
            <a:r>
              <a:rPr lang="en-US" sz="1300" i="1" dirty="0" err="1">
                <a:solidFill>
                  <a:srgbClr val="8A91A6"/>
                </a:solidFill>
                <a:latin typeface="Calibri"/>
                <a:ea typeface="Calibri"/>
                <a:cs typeface="Calibri"/>
              </a:rPr>
              <a:t>Kabzan</a:t>
            </a:r>
            <a:r>
              <a:rPr lang="en-US" sz="1300" i="1" dirty="0">
                <a:solidFill>
                  <a:srgbClr val="8A91A6"/>
                </a:solidFill>
                <a:latin typeface="Calibri"/>
                <a:ea typeface="Calibri"/>
                <a:cs typeface="Calibri"/>
              </a:rPr>
              <a:t> et al., 2019 </a:t>
            </a:r>
            <a:endParaRPr lang="en-US" sz="1300" dirty="0">
              <a:latin typeface="Calibri"/>
              <a:ea typeface="Calibri"/>
              <a:cs typeface="Calibri"/>
            </a:endParaRPr>
          </a:p>
        </p:txBody>
      </p:sp>
      <p:sp>
        <p:nvSpPr>
          <p:cNvPr id="9" name="Text 7"/>
          <p:cNvSpPr/>
          <p:nvPr/>
        </p:nvSpPr>
        <p:spPr>
          <a:xfrm>
            <a:off x="822960" y="6035040"/>
            <a:ext cx="7315200" cy="365760"/>
          </a:xfrm>
          <a:prstGeom prst="rect">
            <a:avLst/>
          </a:prstGeom>
          <a:noFill/>
          <a:ln/>
        </p:spPr>
        <p:txBody>
          <a:bodyPr wrap="square" rtlCol="0" anchor="ctr"/>
          <a:lstStyle/>
          <a:p>
            <a:pPr marL="0" indent="0">
              <a:buNone/>
            </a:pPr>
            <a:r>
              <a:rPr lang="en-US" sz="1200" dirty="0">
                <a:solidFill>
                  <a:srgbClr val="8A91A6"/>
                </a:solidFill>
                <a:latin typeface="Calibri" pitchFamily="34" charset="0"/>
                <a:ea typeface="Calibri" pitchFamily="34" charset="-122"/>
                <a:cs typeface="Calibri" pitchFamily="34" charset="-120"/>
              </a:rPr>
              <a:t>Yassin  •  ARL Formula 2027 Mission — Literature Reading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63946"/>
          </a:solidFill>
          <a:ln/>
        </p:spPr>
      </p:sp>
      <p:pic>
        <p:nvPicPr>
          <p:cNvPr id="3" name="Image 0" descr="/home/claude/amz_deck/icons/flag.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p:nvPr/>
        </p:nvSpPr>
        <p:spPr>
          <a:xfrm>
            <a:off x="1325880" y="438912"/>
            <a:ext cx="10314432" cy="27432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CONTEXT</a:t>
            </a:r>
            <a:endParaRPr lang="en-US" sz="1200" dirty="0"/>
          </a:p>
        </p:txBody>
      </p:sp>
      <p:sp>
        <p:nvSpPr>
          <p:cNvPr id="5" name="Text 2"/>
          <p:cNvSpPr/>
          <p:nvPr/>
        </p:nvSpPr>
        <p:spPr>
          <a:xfrm>
            <a:off x="1325880" y="658368"/>
            <a:ext cx="10314432"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Racing a Track the Car Has Never Seen</a:t>
            </a:r>
            <a:endParaRPr lang="en-US" sz="3000" dirty="0"/>
          </a:p>
        </p:txBody>
      </p:sp>
      <p:sp>
        <p:nvSpPr>
          <p:cNvPr id="6" name="Shape 3"/>
          <p:cNvSpPr/>
          <p:nvPr/>
        </p:nvSpPr>
        <p:spPr>
          <a:xfrm>
            <a:off x="548640" y="1234440"/>
            <a:ext cx="11091672" cy="0"/>
          </a:xfrm>
          <a:prstGeom prst="line">
            <a:avLst/>
          </a:prstGeom>
          <a:noFill/>
          <a:ln w="12700">
            <a:solidFill>
              <a:srgbClr val="2A3245"/>
            </a:solidFill>
            <a:prstDash val="solid"/>
          </a:ln>
        </p:spPr>
      </p:sp>
      <p:sp>
        <p:nvSpPr>
          <p:cNvPr id="7" name="Text 4"/>
          <p:cNvSpPr/>
          <p:nvPr/>
        </p:nvSpPr>
        <p:spPr>
          <a:xfrm>
            <a:off x="548640" y="1554480"/>
            <a:ext cx="6126480" cy="3291840"/>
          </a:xfrm>
          <a:prstGeom prst="rect">
            <a:avLst/>
          </a:prstGeom>
          <a:noFill/>
          <a:ln/>
        </p:spPr>
        <p:txBody>
          <a:bodyPr wrap="square" lIns="0" tIns="0" rIns="0" bIns="0" rtlCol="0" anchor="t"/>
          <a:lstStyle/>
          <a:p>
            <a:pPr marL="228600" indent="-228600">
              <a:lnSpc>
                <a:spcPts val="2025"/>
              </a:lnSpc>
              <a:spcAft>
                <a:spcPts val="1600"/>
              </a:spcAft>
              <a:buSzPct val="100000"/>
              <a:buChar char="▪"/>
            </a:pPr>
            <a:r>
              <a:rPr lang="en-US" sz="1500" dirty="0">
                <a:solidFill>
                  <a:srgbClr val="B7BDCC"/>
                </a:solidFill>
                <a:latin typeface="Calibri" pitchFamily="34" charset="0"/>
                <a:ea typeface="Calibri" pitchFamily="34" charset="-122"/>
                <a:cs typeface="Calibri" pitchFamily="34" charset="-120"/>
              </a:rPr>
              <a:t>Formula Student Driverless: student-built racecars compete fully autonomously, with no driver and no prior map of the track.</a:t>
            </a:r>
            <a:endParaRPr lang="en-US" sz="1500" dirty="0"/>
          </a:p>
          <a:p>
            <a:pPr marL="228600" indent="-228600">
              <a:lnSpc>
                <a:spcPts val="2025"/>
              </a:lnSpc>
              <a:spcAft>
                <a:spcPts val="1600"/>
              </a:spcAft>
              <a:buSzPct val="100000"/>
              <a:buChar char="▪"/>
            </a:pPr>
            <a:r>
              <a:rPr lang="en-US" sz="1500" dirty="0">
                <a:solidFill>
                  <a:srgbClr val="B7BDCC"/>
                </a:solidFill>
                <a:latin typeface="Calibri" pitchFamily="34" charset="0"/>
                <a:ea typeface="Calibri" pitchFamily="34" charset="-122"/>
                <a:cs typeface="Calibri" pitchFamily="34" charset="-120"/>
              </a:rPr>
              <a:t>The car must perceive cones marking the track edges, estimate its own motion, build a map, and control itself — all in real time.</a:t>
            </a:r>
            <a:endParaRPr lang="en-US" sz="1500" dirty="0"/>
          </a:p>
          <a:p>
            <a:pPr marL="228600" indent="-228600">
              <a:lnSpc>
                <a:spcPts val="2025"/>
              </a:lnSpc>
              <a:spcAft>
                <a:spcPts val="1600"/>
              </a:spcAft>
              <a:buSzPct val="100000"/>
              <a:buChar char="▪"/>
            </a:pPr>
            <a:r>
              <a:rPr lang="en-US" sz="1500" dirty="0">
                <a:solidFill>
                  <a:srgbClr val="B7BDCC"/>
                </a:solidFill>
                <a:latin typeface="Calibri" pitchFamily="34" charset="0"/>
                <a:ea typeface="Calibri" pitchFamily="34" charset="-122"/>
                <a:cs typeface="Calibri" pitchFamily="34" charset="-120"/>
              </a:rPr>
              <a:t>AMZ Driverless (ETH Zürich) finished 1st overall at every competition entered: FS Germany 2017, FS Italy 2018, FS Germany 2018.</a:t>
            </a:r>
            <a:endParaRPr lang="en-US" sz="1500" dirty="0"/>
          </a:p>
        </p:txBody>
      </p:sp>
      <p:sp>
        <p:nvSpPr>
          <p:cNvPr id="8" name="Shape 5"/>
          <p:cNvSpPr/>
          <p:nvPr/>
        </p:nvSpPr>
        <p:spPr>
          <a:xfrm>
            <a:off x="7040880" y="1554480"/>
            <a:ext cx="4572000" cy="3383280"/>
          </a:xfrm>
          <a:prstGeom prst="roundRect">
            <a:avLst>
              <a:gd name="adj" fmla="val 2162"/>
            </a:avLst>
          </a:prstGeom>
          <a:solidFill>
            <a:srgbClr val="141924"/>
          </a:solidFill>
          <a:ln/>
        </p:spPr>
      </p:sp>
      <p:sp>
        <p:nvSpPr>
          <p:cNvPr id="9" name="Text 6"/>
          <p:cNvSpPr/>
          <p:nvPr/>
        </p:nvSpPr>
        <p:spPr>
          <a:xfrm>
            <a:off x="7269480" y="1737360"/>
            <a:ext cx="41148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Two Operating Modes</a:t>
            </a:r>
            <a:endParaRPr lang="en-US" sz="1300" dirty="0"/>
          </a:p>
        </p:txBody>
      </p:sp>
      <p:sp>
        <p:nvSpPr>
          <p:cNvPr id="10" name="Shape 7"/>
          <p:cNvSpPr/>
          <p:nvPr/>
        </p:nvSpPr>
        <p:spPr>
          <a:xfrm>
            <a:off x="7269480" y="2194560"/>
            <a:ext cx="4114800" cy="914400"/>
          </a:xfrm>
          <a:prstGeom prst="roundRect">
            <a:avLst>
              <a:gd name="adj" fmla="val 9000"/>
            </a:avLst>
          </a:prstGeom>
          <a:solidFill>
            <a:srgbClr val="1B2233"/>
          </a:solidFill>
          <a:ln/>
        </p:spPr>
      </p:sp>
      <p:sp>
        <p:nvSpPr>
          <p:cNvPr id="11" name="Text 8"/>
          <p:cNvSpPr/>
          <p:nvPr/>
        </p:nvSpPr>
        <p:spPr>
          <a:xfrm>
            <a:off x="7342632" y="2286000"/>
            <a:ext cx="3968496"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SLAM MODE</a:t>
            </a:r>
            <a:endParaRPr lang="en-US" sz="1250" dirty="0"/>
          </a:p>
        </p:txBody>
      </p:sp>
      <p:sp>
        <p:nvSpPr>
          <p:cNvPr id="12" name="Text 9"/>
          <p:cNvSpPr/>
          <p:nvPr/>
        </p:nvSpPr>
        <p:spPr>
          <a:xfrm>
            <a:off x="7342632" y="2615184"/>
            <a:ext cx="3968496" cy="402336"/>
          </a:xfrm>
          <a:prstGeom prst="rect">
            <a:avLst/>
          </a:prstGeom>
          <a:noFill/>
          <a:ln/>
        </p:spPr>
        <p:txBody>
          <a:bodyPr wrap="square" lIns="0" tIns="0" rIns="0" bIns="0" rtlCol="0" anchor="t"/>
          <a:lstStyle/>
          <a:p>
            <a:pPr marL="0" indent="0" algn="ctr">
              <a:lnSpc>
                <a:spcPts val="1200"/>
              </a:lnSpc>
              <a:buNone/>
            </a:pPr>
            <a:r>
              <a:rPr lang="en-US" sz="900" dirty="0">
                <a:solidFill>
                  <a:srgbClr val="8A91A6"/>
                </a:solidFill>
                <a:latin typeface="Calibri" pitchFamily="34" charset="0"/>
                <a:ea typeface="Calibri" pitchFamily="34" charset="-122"/>
                <a:cs typeface="Calibri" pitchFamily="34" charset="-120"/>
              </a:rPr>
              <a:t>Perceive cones, build the map,</a:t>
            </a:r>
            <a:endParaRPr lang="en-US" sz="900" dirty="0"/>
          </a:p>
          <a:p>
            <a:pPr marL="0" indent="0" algn="ctr">
              <a:lnSpc>
                <a:spcPts val="1200"/>
              </a:lnSpc>
              <a:buNone/>
            </a:pPr>
            <a:r>
              <a:rPr lang="en-US" sz="900" dirty="0">
                <a:solidFill>
                  <a:srgbClr val="8A91A6"/>
                </a:solidFill>
                <a:latin typeface="Calibri" pitchFamily="34" charset="0"/>
                <a:ea typeface="Calibri" pitchFamily="34" charset="-122"/>
                <a:cs typeface="Calibri" pitchFamily="34" charset="-120"/>
              </a:rPr>
              <a:t>and localize simultaneously</a:t>
            </a:r>
            <a:endParaRPr lang="en-US" sz="900" dirty="0"/>
          </a:p>
        </p:txBody>
      </p:sp>
      <p:sp>
        <p:nvSpPr>
          <p:cNvPr id="13" name="Shape 10"/>
          <p:cNvSpPr/>
          <p:nvPr/>
        </p:nvSpPr>
        <p:spPr>
          <a:xfrm>
            <a:off x="9052560" y="3154680"/>
            <a:ext cx="274320" cy="256032"/>
          </a:xfrm>
          <a:prstGeom prst="downArrow">
            <a:avLst/>
          </a:prstGeom>
          <a:solidFill>
            <a:srgbClr val="E63946"/>
          </a:solidFill>
          <a:ln/>
        </p:spPr>
      </p:sp>
      <p:sp>
        <p:nvSpPr>
          <p:cNvPr id="14" name="Shape 11"/>
          <p:cNvSpPr/>
          <p:nvPr/>
        </p:nvSpPr>
        <p:spPr>
          <a:xfrm>
            <a:off x="7269480" y="3474720"/>
            <a:ext cx="4114800" cy="914400"/>
          </a:xfrm>
          <a:prstGeom prst="roundRect">
            <a:avLst>
              <a:gd name="adj" fmla="val 9000"/>
            </a:avLst>
          </a:prstGeom>
          <a:solidFill>
            <a:srgbClr val="1B2233"/>
          </a:solidFill>
          <a:ln/>
        </p:spPr>
      </p:sp>
      <p:sp>
        <p:nvSpPr>
          <p:cNvPr id="15" name="Text 12"/>
          <p:cNvSpPr/>
          <p:nvPr/>
        </p:nvSpPr>
        <p:spPr>
          <a:xfrm>
            <a:off x="7342632" y="3566160"/>
            <a:ext cx="3968496"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LOCALIZATION MODE</a:t>
            </a:r>
            <a:endParaRPr lang="en-US" sz="1250" dirty="0"/>
          </a:p>
        </p:txBody>
      </p:sp>
      <p:sp>
        <p:nvSpPr>
          <p:cNvPr id="16" name="Text 13"/>
          <p:cNvSpPr/>
          <p:nvPr/>
        </p:nvSpPr>
        <p:spPr>
          <a:xfrm>
            <a:off x="7342632" y="3895344"/>
            <a:ext cx="3968496" cy="402336"/>
          </a:xfrm>
          <a:prstGeom prst="rect">
            <a:avLst/>
          </a:prstGeom>
          <a:noFill/>
          <a:ln/>
        </p:spPr>
        <p:txBody>
          <a:bodyPr wrap="square" lIns="0" tIns="0" rIns="0" bIns="0" rtlCol="0" anchor="t"/>
          <a:lstStyle/>
          <a:p>
            <a:pPr marL="0" indent="0" algn="ctr">
              <a:lnSpc>
                <a:spcPts val="1200"/>
              </a:lnSpc>
              <a:buNone/>
            </a:pPr>
            <a:r>
              <a:rPr lang="en-US" sz="900" dirty="0">
                <a:solidFill>
                  <a:srgbClr val="8A91A6"/>
                </a:solidFill>
                <a:latin typeface="Calibri" pitchFamily="34" charset="0"/>
                <a:ea typeface="Calibri" pitchFamily="34" charset="-122"/>
                <a:cs typeface="Calibri" pitchFamily="34" charset="-120"/>
              </a:rPr>
              <a:t>Map is frozen after lap 1 —</a:t>
            </a:r>
            <a:endParaRPr lang="en-US" sz="900" dirty="0"/>
          </a:p>
          <a:p>
            <a:pPr marL="0" indent="0" algn="ctr">
              <a:lnSpc>
                <a:spcPts val="1200"/>
              </a:lnSpc>
              <a:buNone/>
            </a:pPr>
            <a:r>
              <a:rPr lang="en-US" sz="900" dirty="0">
                <a:solidFill>
                  <a:srgbClr val="8A91A6"/>
                </a:solidFill>
                <a:latin typeface="Calibri" pitchFamily="34" charset="0"/>
                <a:ea typeface="Calibri" pitchFamily="34" charset="-122"/>
                <a:cs typeface="Calibri" pitchFamily="34" charset="-120"/>
              </a:rPr>
              <a:t>race as fast as possible</a:t>
            </a:r>
            <a:endParaRPr lang="en-US" sz="900" dirty="0"/>
          </a:p>
        </p:txBody>
      </p:sp>
      <p:sp>
        <p:nvSpPr>
          <p:cNvPr id="17" name="Text 14"/>
          <p:cNvSpPr/>
          <p:nvPr/>
        </p:nvSpPr>
        <p:spPr>
          <a:xfrm>
            <a:off x="7269480" y="4526280"/>
            <a:ext cx="4114800" cy="274320"/>
          </a:xfrm>
          <a:prstGeom prst="rect">
            <a:avLst/>
          </a:prstGeom>
          <a:noFill/>
          <a:ln/>
        </p:spPr>
        <p:txBody>
          <a:bodyPr wrap="square" rtlCol="0" anchor="ctr"/>
          <a:lstStyle/>
          <a:p>
            <a:pPr marL="0" indent="0">
              <a:buNone/>
            </a:pPr>
            <a:r>
              <a:rPr lang="en-US" sz="1000" i="1" dirty="0">
                <a:solidFill>
                  <a:srgbClr val="8A91A6"/>
                </a:solidFill>
                <a:latin typeface="Calibri" pitchFamily="34" charset="0"/>
                <a:ea typeface="Calibri" pitchFamily="34" charset="-122"/>
                <a:cs typeface="Calibri" pitchFamily="34" charset="-120"/>
              </a:rPr>
              <a:t>Triggered by lap closure detection</a:t>
            </a:r>
            <a:endParaRPr lang="en-US" sz="1000" dirty="0"/>
          </a:p>
        </p:txBody>
      </p:sp>
      <p:sp>
        <p:nvSpPr>
          <p:cNvPr id="18" name="Text 15"/>
          <p:cNvSpPr/>
          <p:nvPr/>
        </p:nvSpPr>
        <p:spPr>
          <a:xfrm>
            <a:off x="548640" y="5074920"/>
            <a:ext cx="11064240" cy="365760"/>
          </a:xfrm>
          <a:prstGeom prst="rect">
            <a:avLst/>
          </a:prstGeom>
          <a:noFill/>
          <a:ln/>
        </p:spPr>
        <p:txBody>
          <a:bodyPr wrap="square" rtlCol="0" anchor="ctr"/>
          <a:lstStyle/>
          <a:p>
            <a:pPr marL="0" indent="0">
              <a:buNone/>
            </a:pPr>
            <a:r>
              <a:rPr lang="en-US" sz="1300" b="1" dirty="0">
                <a:solidFill>
                  <a:srgbClr val="E63946"/>
                </a:solidFill>
                <a:latin typeface="Calibri" pitchFamily="34" charset="0"/>
                <a:ea typeface="Calibri" pitchFamily="34" charset="-122"/>
                <a:cs typeface="Calibri" pitchFamily="34" charset="-120"/>
              </a:rPr>
              <a:t>Modules: Perception  →  Motion Estimation &amp; Mapping  →  Control</a:t>
            </a:r>
            <a:endParaRPr lang="en-US" sz="1300" dirty="0"/>
          </a:p>
        </p:txBody>
      </p:sp>
      <p:sp>
        <p:nvSpPr>
          <p:cNvPr id="20" name="Text 17"/>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A91A6"/>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63946"/>
          </a:solidFill>
          <a:ln/>
        </p:spPr>
      </p:sp>
      <p:pic>
        <p:nvPicPr>
          <p:cNvPr id="3" name="Image 0" descr="/home/claude/amz_deck/icons/sitemap.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p:nvPr/>
        </p:nvSpPr>
        <p:spPr>
          <a:xfrm>
            <a:off x="1325880" y="438912"/>
            <a:ext cx="10314432" cy="27432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SYSTEM OVERVIEW</a:t>
            </a:r>
            <a:endParaRPr lang="en-US" sz="1200" dirty="0"/>
          </a:p>
        </p:txBody>
      </p:sp>
      <p:sp>
        <p:nvSpPr>
          <p:cNvPr id="5" name="Text 2"/>
          <p:cNvSpPr/>
          <p:nvPr/>
        </p:nvSpPr>
        <p:spPr>
          <a:xfrm>
            <a:off x="1325880" y="658368"/>
            <a:ext cx="10314432"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Sensors to Actuators, End to End</a:t>
            </a:r>
            <a:endParaRPr lang="en-US" sz="3000" dirty="0"/>
          </a:p>
        </p:txBody>
      </p:sp>
      <p:sp>
        <p:nvSpPr>
          <p:cNvPr id="6" name="Shape 3"/>
          <p:cNvSpPr/>
          <p:nvPr/>
        </p:nvSpPr>
        <p:spPr>
          <a:xfrm>
            <a:off x="548640" y="1234440"/>
            <a:ext cx="11091672" cy="0"/>
          </a:xfrm>
          <a:prstGeom prst="line">
            <a:avLst/>
          </a:prstGeom>
          <a:noFill/>
          <a:ln w="12700">
            <a:solidFill>
              <a:srgbClr val="2A3245"/>
            </a:solidFill>
            <a:prstDash val="solid"/>
          </a:ln>
        </p:spPr>
      </p:sp>
      <p:sp>
        <p:nvSpPr>
          <p:cNvPr id="7" name="Shape 4"/>
          <p:cNvSpPr/>
          <p:nvPr/>
        </p:nvSpPr>
        <p:spPr>
          <a:xfrm>
            <a:off x="548640" y="1691640"/>
            <a:ext cx="11064240" cy="868680"/>
          </a:xfrm>
          <a:prstGeom prst="roundRect">
            <a:avLst>
              <a:gd name="adj" fmla="val 8421"/>
            </a:avLst>
          </a:prstGeom>
          <a:solidFill>
            <a:srgbClr val="1B2233"/>
          </a:solidFill>
          <a:ln/>
        </p:spPr>
      </p:sp>
      <p:sp>
        <p:nvSpPr>
          <p:cNvPr id="8" name="Text 5"/>
          <p:cNvSpPr/>
          <p:nvPr/>
        </p:nvSpPr>
        <p:spPr>
          <a:xfrm>
            <a:off x="822960" y="1783080"/>
            <a:ext cx="4206240" cy="68580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SENSORS</a:t>
            </a:r>
            <a:endParaRPr lang="en-US" sz="1500" dirty="0"/>
          </a:p>
        </p:txBody>
      </p:sp>
      <p:sp>
        <p:nvSpPr>
          <p:cNvPr id="9" name="Text 6"/>
          <p:cNvSpPr/>
          <p:nvPr/>
        </p:nvSpPr>
        <p:spPr>
          <a:xfrm>
            <a:off x="5120640" y="1783080"/>
            <a:ext cx="6309360" cy="685800"/>
          </a:xfrm>
          <a:prstGeom prst="rect">
            <a:avLst/>
          </a:prstGeom>
          <a:noFill/>
          <a:ln/>
        </p:spPr>
        <p:txBody>
          <a:bodyPr wrap="square" rtlCol="0" anchor="ctr"/>
          <a:lstStyle/>
          <a:p>
            <a:pPr marL="0" indent="0">
              <a:buNone/>
            </a:pPr>
            <a:r>
              <a:rPr lang="en-US" sz="1250" dirty="0">
                <a:solidFill>
                  <a:srgbClr val="B7BDCC"/>
                </a:solidFill>
                <a:latin typeface="Calibri" pitchFamily="34" charset="0"/>
                <a:ea typeface="Calibri" pitchFamily="34" charset="-122"/>
                <a:cs typeface="Calibri" pitchFamily="34" charset="-120"/>
              </a:rPr>
              <a:t>LiDAR · Stereo &amp; Mono Camera · IMU · GNSS · Wheel Speed Sensors</a:t>
            </a:r>
            <a:endParaRPr lang="en-US" sz="1250" dirty="0"/>
          </a:p>
        </p:txBody>
      </p:sp>
      <p:sp>
        <p:nvSpPr>
          <p:cNvPr id="10" name="Shape 7"/>
          <p:cNvSpPr/>
          <p:nvPr/>
        </p:nvSpPr>
        <p:spPr>
          <a:xfrm>
            <a:off x="5806440" y="2542032"/>
            <a:ext cx="274320" cy="219456"/>
          </a:xfrm>
          <a:prstGeom prst="downArrow">
            <a:avLst/>
          </a:prstGeom>
          <a:solidFill>
            <a:srgbClr val="E63946"/>
          </a:solidFill>
          <a:ln/>
        </p:spPr>
      </p:sp>
      <p:sp>
        <p:nvSpPr>
          <p:cNvPr id="11" name="Shape 8"/>
          <p:cNvSpPr/>
          <p:nvPr/>
        </p:nvSpPr>
        <p:spPr>
          <a:xfrm>
            <a:off x="548640" y="2880360"/>
            <a:ext cx="11064240" cy="868680"/>
          </a:xfrm>
          <a:prstGeom prst="roundRect">
            <a:avLst>
              <a:gd name="adj" fmla="val 8421"/>
            </a:avLst>
          </a:prstGeom>
          <a:solidFill>
            <a:srgbClr val="24152A"/>
          </a:solidFill>
          <a:ln/>
        </p:spPr>
      </p:sp>
      <p:sp>
        <p:nvSpPr>
          <p:cNvPr id="12" name="Text 9"/>
          <p:cNvSpPr/>
          <p:nvPr/>
        </p:nvSpPr>
        <p:spPr>
          <a:xfrm>
            <a:off x="822960" y="2971800"/>
            <a:ext cx="4206240" cy="68580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PERCEPTION</a:t>
            </a:r>
            <a:endParaRPr lang="en-US" sz="1500" dirty="0"/>
          </a:p>
        </p:txBody>
      </p:sp>
      <p:sp>
        <p:nvSpPr>
          <p:cNvPr id="13" name="Text 10"/>
          <p:cNvSpPr/>
          <p:nvPr/>
        </p:nvSpPr>
        <p:spPr>
          <a:xfrm>
            <a:off x="5120640" y="2971800"/>
            <a:ext cx="6309360" cy="685800"/>
          </a:xfrm>
          <a:prstGeom prst="rect">
            <a:avLst/>
          </a:prstGeom>
          <a:noFill/>
          <a:ln/>
        </p:spPr>
        <p:txBody>
          <a:bodyPr wrap="square" rtlCol="0" anchor="ctr"/>
          <a:lstStyle/>
          <a:p>
            <a:pPr marL="0" indent="0">
              <a:buNone/>
            </a:pPr>
            <a:r>
              <a:rPr lang="en-US" sz="1250" dirty="0">
                <a:solidFill>
                  <a:srgbClr val="B7BDCC"/>
                </a:solidFill>
                <a:latin typeface="Calibri" pitchFamily="34" charset="0"/>
                <a:ea typeface="Calibri" pitchFamily="34" charset="-122"/>
                <a:cs typeface="Calibri" pitchFamily="34" charset="-120"/>
              </a:rPr>
              <a:t>LiDAR cone pipeline  +  Camera cone pipeline (independent &amp; redundant)</a:t>
            </a:r>
            <a:endParaRPr lang="en-US" sz="1250" dirty="0"/>
          </a:p>
        </p:txBody>
      </p:sp>
      <p:sp>
        <p:nvSpPr>
          <p:cNvPr id="14" name="Shape 11"/>
          <p:cNvSpPr/>
          <p:nvPr/>
        </p:nvSpPr>
        <p:spPr>
          <a:xfrm>
            <a:off x="5806440" y="3730752"/>
            <a:ext cx="274320" cy="219456"/>
          </a:xfrm>
          <a:prstGeom prst="downArrow">
            <a:avLst/>
          </a:prstGeom>
          <a:solidFill>
            <a:srgbClr val="E63946"/>
          </a:solidFill>
          <a:ln/>
        </p:spPr>
      </p:sp>
      <p:sp>
        <p:nvSpPr>
          <p:cNvPr id="15" name="Shape 12"/>
          <p:cNvSpPr/>
          <p:nvPr/>
        </p:nvSpPr>
        <p:spPr>
          <a:xfrm>
            <a:off x="548640" y="4069080"/>
            <a:ext cx="11064240" cy="868680"/>
          </a:xfrm>
          <a:prstGeom prst="roundRect">
            <a:avLst>
              <a:gd name="adj" fmla="val 8421"/>
            </a:avLst>
          </a:prstGeom>
          <a:solidFill>
            <a:srgbClr val="142430"/>
          </a:solidFill>
          <a:ln/>
        </p:spPr>
      </p:sp>
      <p:sp>
        <p:nvSpPr>
          <p:cNvPr id="16" name="Text 13"/>
          <p:cNvSpPr/>
          <p:nvPr/>
        </p:nvSpPr>
        <p:spPr>
          <a:xfrm>
            <a:off x="822960" y="4160520"/>
            <a:ext cx="4206240" cy="68580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MOTION ESTIMATION &amp; MAPPING</a:t>
            </a:r>
            <a:endParaRPr lang="en-US" sz="1500" dirty="0"/>
          </a:p>
        </p:txBody>
      </p:sp>
      <p:sp>
        <p:nvSpPr>
          <p:cNvPr id="17" name="Text 14"/>
          <p:cNvSpPr/>
          <p:nvPr/>
        </p:nvSpPr>
        <p:spPr>
          <a:xfrm>
            <a:off x="5120640" y="4160520"/>
            <a:ext cx="6309360" cy="685800"/>
          </a:xfrm>
          <a:prstGeom prst="rect">
            <a:avLst/>
          </a:prstGeom>
          <a:noFill/>
          <a:ln/>
        </p:spPr>
        <p:txBody>
          <a:bodyPr wrap="square" rtlCol="0" anchor="ctr"/>
          <a:lstStyle/>
          <a:p>
            <a:pPr marL="0" indent="0">
              <a:buNone/>
            </a:pPr>
            <a:r>
              <a:rPr lang="en-US" sz="1250" dirty="0">
                <a:solidFill>
                  <a:srgbClr val="B7BDCC"/>
                </a:solidFill>
                <a:latin typeface="Calibri" pitchFamily="34" charset="0"/>
                <a:ea typeface="Calibri" pitchFamily="34" charset="-122"/>
                <a:cs typeface="Calibri" pitchFamily="34" charset="-120"/>
              </a:rPr>
              <a:t>Velocity EKF  →  FastSLAM 2.0  →  Boundary Estimation</a:t>
            </a:r>
            <a:endParaRPr lang="en-US" sz="1250" dirty="0"/>
          </a:p>
        </p:txBody>
      </p:sp>
      <p:sp>
        <p:nvSpPr>
          <p:cNvPr id="18" name="Shape 15"/>
          <p:cNvSpPr/>
          <p:nvPr/>
        </p:nvSpPr>
        <p:spPr>
          <a:xfrm>
            <a:off x="5806440" y="4919472"/>
            <a:ext cx="274320" cy="219456"/>
          </a:xfrm>
          <a:prstGeom prst="downArrow">
            <a:avLst/>
          </a:prstGeom>
          <a:solidFill>
            <a:srgbClr val="E63946"/>
          </a:solidFill>
          <a:ln/>
        </p:spPr>
      </p:sp>
      <p:sp>
        <p:nvSpPr>
          <p:cNvPr id="19" name="Shape 16"/>
          <p:cNvSpPr/>
          <p:nvPr/>
        </p:nvSpPr>
        <p:spPr>
          <a:xfrm>
            <a:off x="548640" y="5257800"/>
            <a:ext cx="11064240" cy="868680"/>
          </a:xfrm>
          <a:prstGeom prst="roundRect">
            <a:avLst>
              <a:gd name="adj" fmla="val 8421"/>
            </a:avLst>
          </a:prstGeom>
          <a:solidFill>
            <a:srgbClr val="241717"/>
          </a:solidFill>
          <a:ln/>
        </p:spPr>
      </p:sp>
      <p:sp>
        <p:nvSpPr>
          <p:cNvPr id="20" name="Text 17"/>
          <p:cNvSpPr/>
          <p:nvPr/>
        </p:nvSpPr>
        <p:spPr>
          <a:xfrm>
            <a:off x="822960" y="5349240"/>
            <a:ext cx="4206240" cy="68580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CONTROL</a:t>
            </a:r>
            <a:endParaRPr lang="en-US" sz="1500" dirty="0"/>
          </a:p>
        </p:txBody>
      </p:sp>
      <p:sp>
        <p:nvSpPr>
          <p:cNvPr id="21" name="Text 18"/>
          <p:cNvSpPr/>
          <p:nvPr/>
        </p:nvSpPr>
        <p:spPr>
          <a:xfrm>
            <a:off x="5120640" y="5349240"/>
            <a:ext cx="6309360" cy="685800"/>
          </a:xfrm>
          <a:prstGeom prst="rect">
            <a:avLst/>
          </a:prstGeom>
          <a:noFill/>
          <a:ln/>
        </p:spPr>
        <p:txBody>
          <a:bodyPr wrap="square" rtlCol="0" anchor="ctr"/>
          <a:lstStyle/>
          <a:p>
            <a:pPr marL="0" indent="0">
              <a:buNone/>
            </a:pPr>
            <a:r>
              <a:rPr lang="en-US" sz="1250" dirty="0">
                <a:solidFill>
                  <a:srgbClr val="B7BDCC"/>
                </a:solidFill>
                <a:latin typeface="Calibri" pitchFamily="34" charset="0"/>
                <a:ea typeface="Calibri" pitchFamily="34" charset="-122"/>
                <a:cs typeface="Calibri" pitchFamily="34" charset="-120"/>
              </a:rPr>
              <a:t>Nonlinear MPC  →  Low-level torque distribution  →  Steering / Throttle / Brake</a:t>
            </a:r>
            <a:endParaRPr lang="en-US" sz="1250" dirty="0"/>
          </a:p>
        </p:txBody>
      </p:sp>
      <p:sp>
        <p:nvSpPr>
          <p:cNvPr id="23" name="Text 20"/>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A91A6"/>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63946"/>
          </a:solidFill>
          <a:ln/>
        </p:spPr>
      </p:sp>
      <p:pic>
        <p:nvPicPr>
          <p:cNvPr id="3" name="Image 0" descr="/home/claude/amz_deck/icons/satellite.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p:nvPr/>
        </p:nvSpPr>
        <p:spPr>
          <a:xfrm>
            <a:off x="1325880" y="438912"/>
            <a:ext cx="10314432" cy="27432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PERCEPTION — LIDAR</a:t>
            </a:r>
            <a:endParaRPr lang="en-US" sz="1200" dirty="0"/>
          </a:p>
        </p:txBody>
      </p:sp>
      <p:sp>
        <p:nvSpPr>
          <p:cNvPr id="5" name="Text 2"/>
          <p:cNvSpPr/>
          <p:nvPr/>
        </p:nvSpPr>
        <p:spPr>
          <a:xfrm>
            <a:off x="1325880" y="658368"/>
            <a:ext cx="10314432"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From Raw Point Cloud to Colored Cones</a:t>
            </a:r>
            <a:endParaRPr lang="en-US" sz="3000" dirty="0"/>
          </a:p>
        </p:txBody>
      </p:sp>
      <p:sp>
        <p:nvSpPr>
          <p:cNvPr id="6" name="Shape 3"/>
          <p:cNvSpPr/>
          <p:nvPr/>
        </p:nvSpPr>
        <p:spPr>
          <a:xfrm>
            <a:off x="548640" y="1234440"/>
            <a:ext cx="11091672" cy="0"/>
          </a:xfrm>
          <a:prstGeom prst="line">
            <a:avLst/>
          </a:prstGeom>
          <a:noFill/>
          <a:ln w="12700">
            <a:solidFill>
              <a:srgbClr val="2A3245"/>
            </a:solidFill>
            <a:prstDash val="solid"/>
          </a:ln>
        </p:spPr>
      </p:sp>
      <p:sp>
        <p:nvSpPr>
          <p:cNvPr id="7" name="Shape 4"/>
          <p:cNvSpPr/>
          <p:nvPr/>
        </p:nvSpPr>
        <p:spPr>
          <a:xfrm>
            <a:off x="548640" y="1554480"/>
            <a:ext cx="3291840" cy="1051560"/>
          </a:xfrm>
          <a:prstGeom prst="roundRect">
            <a:avLst>
              <a:gd name="adj" fmla="val 7826"/>
            </a:avLst>
          </a:prstGeom>
          <a:solidFill>
            <a:srgbClr val="1B2233"/>
          </a:solidFill>
          <a:ln/>
        </p:spPr>
      </p:sp>
      <p:sp>
        <p:nvSpPr>
          <p:cNvPr id="8" name="Text 5"/>
          <p:cNvSpPr/>
          <p:nvPr/>
        </p:nvSpPr>
        <p:spPr>
          <a:xfrm>
            <a:off x="621792" y="1645920"/>
            <a:ext cx="3145536"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PRE-PROCESSING</a:t>
            </a:r>
            <a:endParaRPr lang="en-US" sz="1250" dirty="0"/>
          </a:p>
        </p:txBody>
      </p:sp>
      <p:sp>
        <p:nvSpPr>
          <p:cNvPr id="9" name="Text 6"/>
          <p:cNvSpPr/>
          <p:nvPr/>
        </p:nvSpPr>
        <p:spPr>
          <a:xfrm>
            <a:off x="621792" y="1975104"/>
            <a:ext cx="3145536" cy="539496"/>
          </a:xfrm>
          <a:prstGeom prst="rect">
            <a:avLst/>
          </a:prstGeom>
          <a:noFill/>
          <a:ln/>
        </p:spPr>
        <p:txBody>
          <a:bodyPr wrap="square" lIns="0" tIns="0" rIns="0" bIns="0" rtlCol="0" anchor="t"/>
          <a:lstStyle/>
          <a:p>
            <a:pPr marL="0" indent="0" algn="ctr">
              <a:lnSpc>
                <a:spcPts val="1200"/>
              </a:lnSpc>
              <a:buNone/>
            </a:pPr>
            <a:r>
              <a:rPr lang="en-US" sz="900" dirty="0">
                <a:solidFill>
                  <a:srgbClr val="8A91A6"/>
                </a:solidFill>
                <a:latin typeface="Calibri" pitchFamily="34" charset="0"/>
                <a:ea typeface="Calibri" pitchFamily="34" charset="-122"/>
                <a:cs typeface="Calibri" pitchFamily="34" charset="-120"/>
              </a:rPr>
              <a:t>Ground removal +</a:t>
            </a:r>
            <a:endParaRPr lang="en-US" sz="900" dirty="0"/>
          </a:p>
          <a:p>
            <a:pPr marL="0" indent="0" algn="ctr">
              <a:lnSpc>
                <a:spcPts val="1200"/>
              </a:lnSpc>
              <a:buNone/>
            </a:pPr>
            <a:r>
              <a:rPr lang="en-US" sz="900" dirty="0">
                <a:solidFill>
                  <a:srgbClr val="8A91A6"/>
                </a:solidFill>
                <a:latin typeface="Calibri" pitchFamily="34" charset="0"/>
                <a:ea typeface="Calibri" pitchFamily="34" charset="-122"/>
                <a:cs typeface="Calibri" pitchFamily="34" charset="-120"/>
              </a:rPr>
              <a:t>motion-distortion correction</a:t>
            </a:r>
            <a:endParaRPr lang="en-US" sz="900" dirty="0"/>
          </a:p>
        </p:txBody>
      </p:sp>
      <p:sp>
        <p:nvSpPr>
          <p:cNvPr id="10" name="Shape 7"/>
          <p:cNvSpPr/>
          <p:nvPr/>
        </p:nvSpPr>
        <p:spPr>
          <a:xfrm>
            <a:off x="3867912" y="1997964"/>
            <a:ext cx="274320" cy="164592"/>
          </a:xfrm>
          <a:prstGeom prst="rightArrow">
            <a:avLst/>
          </a:prstGeom>
          <a:solidFill>
            <a:srgbClr val="E63946"/>
          </a:solidFill>
          <a:ln/>
        </p:spPr>
      </p:sp>
      <p:sp>
        <p:nvSpPr>
          <p:cNvPr id="11" name="Shape 8"/>
          <p:cNvSpPr/>
          <p:nvPr/>
        </p:nvSpPr>
        <p:spPr>
          <a:xfrm>
            <a:off x="4160520" y="1554480"/>
            <a:ext cx="3291840" cy="1051560"/>
          </a:xfrm>
          <a:prstGeom prst="roundRect">
            <a:avLst>
              <a:gd name="adj" fmla="val 7826"/>
            </a:avLst>
          </a:prstGeom>
          <a:solidFill>
            <a:srgbClr val="1B2233"/>
          </a:solidFill>
          <a:ln/>
        </p:spPr>
      </p:sp>
      <p:sp>
        <p:nvSpPr>
          <p:cNvPr id="12" name="Text 9"/>
          <p:cNvSpPr/>
          <p:nvPr/>
        </p:nvSpPr>
        <p:spPr>
          <a:xfrm>
            <a:off x="4233672" y="1645920"/>
            <a:ext cx="3145536"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CONE DETECTION</a:t>
            </a:r>
            <a:endParaRPr lang="en-US" sz="1250" dirty="0"/>
          </a:p>
        </p:txBody>
      </p:sp>
      <p:sp>
        <p:nvSpPr>
          <p:cNvPr id="13" name="Text 10"/>
          <p:cNvSpPr/>
          <p:nvPr/>
        </p:nvSpPr>
        <p:spPr>
          <a:xfrm>
            <a:off x="4233672" y="1975104"/>
            <a:ext cx="3145536" cy="539496"/>
          </a:xfrm>
          <a:prstGeom prst="rect">
            <a:avLst/>
          </a:prstGeom>
          <a:noFill/>
          <a:ln/>
        </p:spPr>
        <p:txBody>
          <a:bodyPr wrap="square" lIns="0" tIns="0" rIns="0" bIns="0" rtlCol="0" anchor="t"/>
          <a:lstStyle/>
          <a:p>
            <a:pPr marL="0" indent="0" algn="ctr">
              <a:lnSpc>
                <a:spcPts val="1200"/>
              </a:lnSpc>
              <a:buNone/>
            </a:pPr>
            <a:r>
              <a:rPr lang="en-US" sz="900" dirty="0">
                <a:solidFill>
                  <a:srgbClr val="8A91A6"/>
                </a:solidFill>
                <a:latin typeface="Calibri" pitchFamily="34" charset="0"/>
                <a:ea typeface="Calibri" pitchFamily="34" charset="-122"/>
                <a:cs typeface="Calibri" pitchFamily="34" charset="-120"/>
              </a:rPr>
              <a:t>Euclidean clustering +</a:t>
            </a:r>
            <a:endParaRPr lang="en-US" sz="900" dirty="0"/>
          </a:p>
          <a:p>
            <a:pPr marL="0" indent="0" algn="ctr">
              <a:lnSpc>
                <a:spcPts val="1200"/>
              </a:lnSpc>
              <a:buNone/>
            </a:pPr>
            <a:r>
              <a:rPr lang="en-US" sz="900" dirty="0">
                <a:solidFill>
                  <a:srgbClr val="8A91A6"/>
                </a:solidFill>
                <a:latin typeface="Calibri" pitchFamily="34" charset="0"/>
                <a:ea typeface="Calibri" pitchFamily="34" charset="-122"/>
                <a:cs typeface="Calibri" pitchFamily="34" charset="-120"/>
              </a:rPr>
              <a:t>cluster reconstruction</a:t>
            </a:r>
            <a:endParaRPr lang="en-US" sz="900" dirty="0"/>
          </a:p>
        </p:txBody>
      </p:sp>
      <p:sp>
        <p:nvSpPr>
          <p:cNvPr id="14" name="Shape 11"/>
          <p:cNvSpPr/>
          <p:nvPr/>
        </p:nvSpPr>
        <p:spPr>
          <a:xfrm>
            <a:off x="7479792" y="1997964"/>
            <a:ext cx="274320" cy="164592"/>
          </a:xfrm>
          <a:prstGeom prst="rightArrow">
            <a:avLst/>
          </a:prstGeom>
          <a:solidFill>
            <a:srgbClr val="E63946"/>
          </a:solidFill>
          <a:ln/>
        </p:spPr>
      </p:sp>
      <p:sp>
        <p:nvSpPr>
          <p:cNvPr id="15" name="Shape 12"/>
          <p:cNvSpPr/>
          <p:nvPr/>
        </p:nvSpPr>
        <p:spPr>
          <a:xfrm>
            <a:off x="7772400" y="1554480"/>
            <a:ext cx="3291840" cy="1051560"/>
          </a:xfrm>
          <a:prstGeom prst="roundRect">
            <a:avLst>
              <a:gd name="adj" fmla="val 7826"/>
            </a:avLst>
          </a:prstGeom>
          <a:solidFill>
            <a:srgbClr val="1B2233"/>
          </a:solidFill>
          <a:ln/>
        </p:spPr>
      </p:sp>
      <p:sp>
        <p:nvSpPr>
          <p:cNvPr id="16" name="Text 13"/>
          <p:cNvSpPr/>
          <p:nvPr/>
        </p:nvSpPr>
        <p:spPr>
          <a:xfrm>
            <a:off x="7845552" y="1645920"/>
            <a:ext cx="3145536"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COLOR ESTIMATION</a:t>
            </a:r>
            <a:endParaRPr lang="en-US" sz="1250" dirty="0"/>
          </a:p>
        </p:txBody>
      </p:sp>
      <p:sp>
        <p:nvSpPr>
          <p:cNvPr id="17" name="Text 14"/>
          <p:cNvSpPr/>
          <p:nvPr/>
        </p:nvSpPr>
        <p:spPr>
          <a:xfrm>
            <a:off x="7845552" y="1975104"/>
            <a:ext cx="3145536" cy="539496"/>
          </a:xfrm>
          <a:prstGeom prst="rect">
            <a:avLst/>
          </a:prstGeom>
          <a:noFill/>
          <a:ln/>
        </p:spPr>
        <p:txBody>
          <a:bodyPr wrap="square" lIns="0" tIns="0" rIns="0" bIns="0" rtlCol="0" anchor="t"/>
          <a:lstStyle/>
          <a:p>
            <a:pPr marL="0" indent="0" algn="ctr">
              <a:lnSpc>
                <a:spcPts val="1200"/>
              </a:lnSpc>
              <a:buNone/>
            </a:pPr>
            <a:r>
              <a:rPr lang="en-US" sz="900" dirty="0">
                <a:solidFill>
                  <a:srgbClr val="8A91A6"/>
                </a:solidFill>
                <a:latin typeface="Calibri" pitchFamily="34" charset="0"/>
                <a:ea typeface="Calibri" pitchFamily="34" charset="-122"/>
                <a:cs typeface="Calibri" pitchFamily="34" charset="-120"/>
              </a:rPr>
              <a:t>CNN on intensity</a:t>
            </a:r>
            <a:endParaRPr lang="en-US" sz="900" dirty="0"/>
          </a:p>
          <a:p>
            <a:pPr marL="0" indent="0" algn="ctr">
              <a:lnSpc>
                <a:spcPts val="1200"/>
              </a:lnSpc>
              <a:buNone/>
            </a:pPr>
            <a:r>
              <a:rPr lang="en-US" sz="900" dirty="0">
                <a:solidFill>
                  <a:srgbClr val="8A91A6"/>
                </a:solidFill>
                <a:latin typeface="Calibri" pitchFamily="34" charset="0"/>
                <a:ea typeface="Calibri" pitchFamily="34" charset="-122"/>
                <a:cs typeface="Calibri" pitchFamily="34" charset="-120"/>
              </a:rPr>
              <a:t>pattern per cone</a:t>
            </a:r>
            <a:endParaRPr lang="en-US" sz="900" dirty="0"/>
          </a:p>
        </p:txBody>
      </p:sp>
      <p:sp>
        <p:nvSpPr>
          <p:cNvPr id="18" name="Shape 15"/>
          <p:cNvSpPr/>
          <p:nvPr/>
        </p:nvSpPr>
        <p:spPr>
          <a:xfrm>
            <a:off x="548640" y="2926080"/>
            <a:ext cx="11064240" cy="1417320"/>
          </a:xfrm>
          <a:prstGeom prst="roundRect">
            <a:avLst>
              <a:gd name="adj" fmla="val 5161"/>
            </a:avLst>
          </a:prstGeom>
          <a:solidFill>
            <a:srgbClr val="241717"/>
          </a:solidFill>
          <a:ln/>
        </p:spPr>
      </p:sp>
      <p:sp>
        <p:nvSpPr>
          <p:cNvPr id="19" name="Shape 16"/>
          <p:cNvSpPr/>
          <p:nvPr/>
        </p:nvSpPr>
        <p:spPr>
          <a:xfrm>
            <a:off x="777240" y="3127248"/>
            <a:ext cx="502920" cy="502920"/>
          </a:xfrm>
          <a:prstGeom prst="ellipse">
            <a:avLst/>
          </a:prstGeom>
          <a:solidFill>
            <a:srgbClr val="E63946"/>
          </a:solidFill>
          <a:ln/>
        </p:spPr>
      </p:sp>
      <p:pic>
        <p:nvPicPr>
          <p:cNvPr id="20" name="Image 1" descr="/home/claude/amz_deck/icons/warning.png"/>
          <p:cNvPicPr>
            <a:picLocks noChangeAspect="1"/>
          </p:cNvPicPr>
          <p:nvPr/>
        </p:nvPicPr>
        <p:blipFill>
          <a:blip r:embed="rId4"/>
          <a:stretch>
            <a:fillRect/>
          </a:stretch>
        </p:blipFill>
        <p:spPr>
          <a:xfrm>
            <a:off x="897941" y="3247949"/>
            <a:ext cx="261518" cy="261518"/>
          </a:xfrm>
          <a:prstGeom prst="rect">
            <a:avLst/>
          </a:prstGeom>
        </p:spPr>
      </p:pic>
      <p:sp>
        <p:nvSpPr>
          <p:cNvPr id="21" name="Text 17"/>
          <p:cNvSpPr/>
          <p:nvPr/>
        </p:nvSpPr>
        <p:spPr>
          <a:xfrm>
            <a:off x="1463040" y="3108960"/>
            <a:ext cx="9966960" cy="320040"/>
          </a:xfrm>
          <a:prstGeom prst="rect">
            <a:avLst/>
          </a:prstGeom>
          <a:noFill/>
          <a:ln/>
        </p:spPr>
        <p:txBody>
          <a:bodyPr wrap="square" rtlCol="0" anchor="ctr"/>
          <a:lstStyle/>
          <a:p>
            <a:pPr marL="0" indent="0">
              <a:buNone/>
            </a:pPr>
            <a:r>
              <a:rPr lang="en-US" sz="1400" b="1" dirty="0">
                <a:solidFill>
                  <a:srgbClr val="E63946"/>
                </a:solidFill>
                <a:latin typeface="Calibri" pitchFamily="34" charset="0"/>
                <a:ea typeface="Calibri" pitchFamily="34" charset="-122"/>
                <a:cs typeface="Calibri" pitchFamily="34" charset="-120"/>
              </a:rPr>
              <a:t>Why motion distortion matters (critical)</a:t>
            </a:r>
            <a:endParaRPr lang="en-US" sz="1400" dirty="0"/>
          </a:p>
        </p:txBody>
      </p:sp>
      <p:sp>
        <p:nvSpPr>
          <p:cNvPr id="22" name="Text 18"/>
          <p:cNvSpPr/>
          <p:nvPr/>
        </p:nvSpPr>
        <p:spPr>
          <a:xfrm>
            <a:off x="1463040" y="3456432"/>
            <a:ext cx="9966960" cy="822960"/>
          </a:xfrm>
          <a:prstGeom prst="rect">
            <a:avLst/>
          </a:prstGeom>
          <a:noFill/>
          <a:ln/>
        </p:spPr>
        <p:txBody>
          <a:bodyPr wrap="square" rtlCol="0" anchor="ctr"/>
          <a:lstStyle/>
          <a:p>
            <a:pPr marL="0" indent="0">
              <a:buNone/>
            </a:pPr>
            <a:r>
              <a:rPr lang="en-US" sz="1250" dirty="0">
                <a:solidFill>
                  <a:srgbClr val="B7BDCC"/>
                </a:solidFill>
                <a:latin typeface="Calibri" pitchFamily="34" charset="0"/>
                <a:ea typeface="Calibri" pitchFamily="34" charset="-122"/>
                <a:cs typeface="Calibri" pitchFamily="34" charset="-120"/>
              </a:rPr>
              <a:t>A LiDAR scan isn't captured in a single instant — points are collected as the sensor sweeps, while the car keeps moving. If that motion isn't accounted for, the resulting point cloud is warped, distorting cone shapes or even creating “ghost cones.” The car's own velocity estimate is used to undistort each scan before detection runs.</a:t>
            </a:r>
            <a:endParaRPr lang="en-US" sz="1250" dirty="0"/>
          </a:p>
        </p:txBody>
      </p:sp>
      <p:sp>
        <p:nvSpPr>
          <p:cNvPr id="23" name="Text 19"/>
          <p:cNvSpPr/>
          <p:nvPr/>
        </p:nvSpPr>
        <p:spPr>
          <a:xfrm>
            <a:off x="548640" y="4572000"/>
            <a:ext cx="11064240" cy="1463040"/>
          </a:xfrm>
          <a:prstGeom prst="rect">
            <a:avLst/>
          </a:prstGeom>
          <a:noFill/>
          <a:ln/>
        </p:spPr>
        <p:txBody>
          <a:bodyPr wrap="square" lIns="0" tIns="0" rIns="0" bIns="0" rtlCol="0" anchor="t"/>
          <a:lstStyle/>
          <a:p>
            <a:pPr marL="228600" indent="-228600">
              <a:lnSpc>
                <a:spcPts val="1755"/>
              </a:lnSpc>
              <a:spcAft>
                <a:spcPts val="1000"/>
              </a:spcAft>
              <a:buSzPct val="100000"/>
              <a:buChar char="▪"/>
            </a:pPr>
            <a:r>
              <a:rPr lang="en-US" sz="1300" dirty="0">
                <a:solidFill>
                  <a:srgbClr val="B7BDCC"/>
                </a:solidFill>
                <a:latin typeface="Calibri" pitchFamily="34" charset="0"/>
                <a:ea typeface="Calibri" pitchFamily="34" charset="-122"/>
                <a:cs typeface="Calibri" pitchFamily="34" charset="-120"/>
              </a:rPr>
              <a:t>Ground removal strips away most of the ground plane — but also strips many real cone points, since cones are small and sparse in the point cloud.</a:t>
            </a:r>
            <a:endParaRPr lang="en-US" sz="1300" dirty="0"/>
          </a:p>
          <a:p>
            <a:pPr marL="228600" indent="-228600">
              <a:lnSpc>
                <a:spcPts val="1755"/>
              </a:lnSpc>
              <a:spcAft>
                <a:spcPts val="1000"/>
              </a:spcAft>
              <a:buSzPct val="100000"/>
              <a:buChar char="▪"/>
            </a:pPr>
            <a:r>
              <a:rPr lang="en-US" sz="1300" dirty="0">
                <a:solidFill>
                  <a:srgbClr val="B7BDCC"/>
                </a:solidFill>
                <a:latin typeface="Calibri" pitchFamily="34" charset="0"/>
                <a:ea typeface="Calibri" pitchFamily="34" charset="-122"/>
                <a:cs typeface="Calibri" pitchFamily="34" charset="-120"/>
              </a:rPr>
              <a:t>Cluster reconstruction recovers this: a cylindrical region is rebuilt around each detected cluster center using the pre-ground-removal points, restoring enough points for reliable detection and color estimation.</a:t>
            </a:r>
            <a:endParaRPr lang="en-US" sz="1300" dirty="0"/>
          </a:p>
        </p:txBody>
      </p:sp>
      <p:sp>
        <p:nvSpPr>
          <p:cNvPr id="25" name="Text 21"/>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A91A6"/>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63946"/>
          </a:solidFill>
          <a:ln/>
        </p:spPr>
      </p:sp>
      <p:pic>
        <p:nvPicPr>
          <p:cNvPr id="3" name="Image 0" descr="/home/claude/amz_deck/icons/palette.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p:nvPr/>
        </p:nvSpPr>
        <p:spPr>
          <a:xfrm>
            <a:off x="1325880" y="438912"/>
            <a:ext cx="10314432" cy="27432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PERCEPTION — LIDAR</a:t>
            </a:r>
            <a:endParaRPr lang="en-US" sz="1200" dirty="0"/>
          </a:p>
        </p:txBody>
      </p:sp>
      <p:sp>
        <p:nvSpPr>
          <p:cNvPr id="5" name="Text 2"/>
          <p:cNvSpPr/>
          <p:nvPr/>
        </p:nvSpPr>
        <p:spPr>
          <a:xfrm>
            <a:off x="1325880" y="658368"/>
            <a:ext cx="10314432"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Estimating Cone Color from Light Intensity</a:t>
            </a:r>
            <a:endParaRPr lang="en-US" sz="3000" dirty="0"/>
          </a:p>
        </p:txBody>
      </p:sp>
      <p:sp>
        <p:nvSpPr>
          <p:cNvPr id="6" name="Shape 3"/>
          <p:cNvSpPr/>
          <p:nvPr/>
        </p:nvSpPr>
        <p:spPr>
          <a:xfrm>
            <a:off x="548640" y="1234440"/>
            <a:ext cx="11091672" cy="0"/>
          </a:xfrm>
          <a:prstGeom prst="line">
            <a:avLst/>
          </a:prstGeom>
          <a:noFill/>
          <a:ln w="12700">
            <a:solidFill>
              <a:srgbClr val="2A3245"/>
            </a:solidFill>
            <a:prstDash val="solid"/>
          </a:ln>
        </p:spPr>
      </p:sp>
      <p:sp>
        <p:nvSpPr>
          <p:cNvPr id="7" name="Text 4"/>
          <p:cNvSpPr/>
          <p:nvPr/>
        </p:nvSpPr>
        <p:spPr>
          <a:xfrm>
            <a:off x="548640" y="1554480"/>
            <a:ext cx="6492240" cy="3840480"/>
          </a:xfrm>
          <a:prstGeom prst="rect">
            <a:avLst/>
          </a:prstGeom>
          <a:noFill/>
          <a:ln/>
        </p:spPr>
        <p:txBody>
          <a:bodyPr wrap="square" lIns="0" tIns="0" rIns="0" bIns="0" rtlCol="0" anchor="t"/>
          <a:lstStyle/>
          <a:p>
            <a:pPr marL="228600" indent="-228600">
              <a:lnSpc>
                <a:spcPts val="1823"/>
              </a:lnSpc>
              <a:spcAft>
                <a:spcPts val="1400"/>
              </a:spcAft>
              <a:buSzPct val="100000"/>
              <a:buChar char="▪"/>
            </a:pPr>
            <a:r>
              <a:rPr lang="en-US" sz="1350" dirty="0">
                <a:solidFill>
                  <a:srgbClr val="B7BDCC"/>
                </a:solidFill>
                <a:latin typeface="Calibri" pitchFamily="34" charset="0"/>
                <a:ea typeface="Calibri" pitchFamily="34" charset="-122"/>
                <a:cs typeface="Calibri" pitchFamily="34" charset="-120"/>
              </a:rPr>
              <a:t>Cones have a real physical pattern: yellow cones are yellow-black-yellow, blue cones are blue-white-blue.</a:t>
            </a:r>
            <a:endParaRPr lang="en-US" sz="1350" dirty="0"/>
          </a:p>
          <a:p>
            <a:pPr marL="228600" indent="-228600">
              <a:lnSpc>
                <a:spcPts val="1823"/>
              </a:lnSpc>
              <a:spcAft>
                <a:spcPts val="1400"/>
              </a:spcAft>
              <a:buSzPct val="100000"/>
              <a:buChar char="▪"/>
            </a:pPr>
            <a:r>
              <a:rPr lang="en-US" sz="1350" dirty="0">
                <a:solidFill>
                  <a:srgbClr val="B7BDCC"/>
                </a:solidFill>
                <a:latin typeface="Calibri" pitchFamily="34" charset="0"/>
                <a:ea typeface="Calibri" pitchFamily="34" charset="-122"/>
                <a:cs typeface="Calibri" pitchFamily="34" charset="-120"/>
              </a:rPr>
              <a:t>As the LiDAR beam scans vertically up a cone, these color bands reflect light differently — producing a distinct high-low-high or low-high-low intensity gradient.</a:t>
            </a:r>
            <a:endParaRPr lang="en-US" sz="1350" dirty="0"/>
          </a:p>
          <a:p>
            <a:pPr marL="228600" indent="-228600">
              <a:lnSpc>
                <a:spcPts val="1823"/>
              </a:lnSpc>
              <a:spcAft>
                <a:spcPts val="1400"/>
              </a:spcAft>
              <a:buSzPct val="100000"/>
              <a:buChar char="▪"/>
            </a:pPr>
            <a:r>
              <a:rPr lang="en-US" sz="1350" dirty="0">
                <a:solidFill>
                  <a:srgbClr val="B7BDCC"/>
                </a:solidFill>
                <a:latin typeface="Calibri" pitchFamily="34" charset="0"/>
                <a:ea typeface="Calibri" pitchFamily="34" charset="-122"/>
                <a:cs typeface="Calibri" pitchFamily="34" charset="-120"/>
              </a:rPr>
              <a:t>That intensity pattern (not visible color, since LiDAR has none) is mapped into a small 32×32 grayscale image and fed to a CNN.</a:t>
            </a:r>
            <a:endParaRPr lang="en-US" sz="1350" dirty="0"/>
          </a:p>
          <a:p>
            <a:pPr marL="228600" indent="-228600">
              <a:lnSpc>
                <a:spcPts val="1823"/>
              </a:lnSpc>
              <a:spcAft>
                <a:spcPts val="1400"/>
              </a:spcAft>
              <a:buSzPct val="100000"/>
              <a:buChar char="▪"/>
            </a:pPr>
            <a:r>
              <a:rPr lang="en-US" sz="1350" dirty="0">
                <a:solidFill>
                  <a:srgbClr val="B7BDCC"/>
                </a:solidFill>
                <a:latin typeface="Calibri" pitchFamily="34" charset="0"/>
                <a:ea typeface="Calibri" pitchFamily="34" charset="-122"/>
                <a:cs typeface="Calibri" pitchFamily="34" charset="-120"/>
              </a:rPr>
              <a:t>The CNN outputs a probability the cone is blue, yellow, or unknown — trained with a loss that punishes blue↔yellow mix-ups far more than an “unknown” call.</a:t>
            </a:r>
            <a:endParaRPr lang="en-US" sz="1350" dirty="0"/>
          </a:p>
        </p:txBody>
      </p:sp>
      <p:sp>
        <p:nvSpPr>
          <p:cNvPr id="8" name="Shape 5"/>
          <p:cNvSpPr/>
          <p:nvPr/>
        </p:nvSpPr>
        <p:spPr>
          <a:xfrm>
            <a:off x="7360920" y="1554480"/>
            <a:ext cx="4251960" cy="3931920"/>
          </a:xfrm>
          <a:prstGeom prst="roundRect">
            <a:avLst>
              <a:gd name="adj" fmla="val 1860"/>
            </a:avLst>
          </a:prstGeom>
          <a:solidFill>
            <a:srgbClr val="141924"/>
          </a:solidFill>
          <a:ln/>
        </p:spPr>
      </p:sp>
      <p:sp>
        <p:nvSpPr>
          <p:cNvPr id="9" name="Text 6"/>
          <p:cNvSpPr/>
          <p:nvPr/>
        </p:nvSpPr>
        <p:spPr>
          <a:xfrm>
            <a:off x="7589520" y="1737360"/>
            <a:ext cx="3749040" cy="320040"/>
          </a:xfrm>
          <a:prstGeom prst="rect">
            <a:avLst/>
          </a:prstGeom>
          <a:noFill/>
          <a:ln/>
        </p:spPr>
        <p:txBody>
          <a:bodyPr wrap="square" rtlCol="0" anchor="ctr"/>
          <a:lstStyle/>
          <a:p>
            <a:pPr marL="0" indent="0">
              <a:buNone/>
            </a:pPr>
            <a:r>
              <a:rPr lang="en-US" sz="1300" b="1" dirty="0">
                <a:solidFill>
                  <a:srgbClr val="E63946"/>
                </a:solidFill>
                <a:latin typeface="Calibri" pitchFamily="34" charset="0"/>
                <a:ea typeface="Calibri" pitchFamily="34" charset="-122"/>
                <a:cs typeface="Calibri" pitchFamily="34" charset="-120"/>
              </a:rPr>
              <a:t>Why this matters</a:t>
            </a:r>
            <a:endParaRPr lang="en-US" sz="1300" dirty="0"/>
          </a:p>
        </p:txBody>
      </p:sp>
      <p:sp>
        <p:nvSpPr>
          <p:cNvPr id="10" name="Text 7"/>
          <p:cNvSpPr/>
          <p:nvPr/>
        </p:nvSpPr>
        <p:spPr>
          <a:xfrm>
            <a:off x="7589520" y="2103120"/>
            <a:ext cx="3749040" cy="822960"/>
          </a:xfrm>
          <a:prstGeom prst="rect">
            <a:avLst/>
          </a:prstGeom>
          <a:noFill/>
          <a:ln/>
        </p:spPr>
        <p:txBody>
          <a:bodyPr wrap="square" rtlCol="0" anchor="ctr"/>
          <a:lstStyle/>
          <a:p>
            <a:pPr marL="0" indent="0">
              <a:buNone/>
            </a:pPr>
            <a:r>
              <a:rPr lang="en-US" sz="1150" dirty="0">
                <a:solidFill>
                  <a:srgbClr val="B7BDCC"/>
                </a:solidFill>
                <a:latin typeface="Calibri" pitchFamily="34" charset="0"/>
                <a:ea typeface="Calibri" pitchFamily="34" charset="-122"/>
                <a:cs typeface="Calibri" pitchFamily="34" charset="-120"/>
              </a:rPr>
              <a:t>Color tells the car which side of the track a cone marks (blue = left, yellow = right), which the boundary and planning modules depend on directly.</a:t>
            </a:r>
            <a:endParaRPr lang="en-US" sz="1150" dirty="0"/>
          </a:p>
        </p:txBody>
      </p:sp>
      <p:sp>
        <p:nvSpPr>
          <p:cNvPr id="11" name="Shape 8"/>
          <p:cNvSpPr/>
          <p:nvPr/>
        </p:nvSpPr>
        <p:spPr>
          <a:xfrm>
            <a:off x="7589520" y="3063240"/>
            <a:ext cx="3749040" cy="0"/>
          </a:xfrm>
          <a:prstGeom prst="line">
            <a:avLst/>
          </a:prstGeom>
          <a:noFill/>
          <a:ln w="12700">
            <a:solidFill>
              <a:srgbClr val="2A3245"/>
            </a:solidFill>
            <a:prstDash val="solid"/>
          </a:ln>
        </p:spPr>
      </p:sp>
      <p:sp>
        <p:nvSpPr>
          <p:cNvPr id="12" name="Text 9"/>
          <p:cNvSpPr/>
          <p:nvPr/>
        </p:nvSpPr>
        <p:spPr>
          <a:xfrm>
            <a:off x="7589520" y="3200400"/>
            <a:ext cx="3749040" cy="274320"/>
          </a:xfrm>
          <a:prstGeom prst="rect">
            <a:avLst/>
          </a:prstGeom>
          <a:noFill/>
          <a:ln/>
        </p:spPr>
        <p:txBody>
          <a:bodyPr wrap="square" rtlCol="0" anchor="ctr"/>
          <a:lstStyle/>
          <a:p>
            <a:pPr marL="0" indent="0">
              <a:buNone/>
            </a:pPr>
            <a:r>
              <a:rPr lang="en-US" sz="1300" b="1" dirty="0">
                <a:solidFill>
                  <a:srgbClr val="E63946"/>
                </a:solidFill>
                <a:latin typeface="Calibri" pitchFamily="34" charset="0"/>
                <a:ea typeface="Calibri" pitchFamily="34" charset="-122"/>
                <a:cs typeface="Calibri" pitchFamily="34" charset="-120"/>
              </a:rPr>
              <a:t>Result</a:t>
            </a:r>
            <a:endParaRPr lang="en-US" sz="1300" dirty="0"/>
          </a:p>
        </p:txBody>
      </p:sp>
      <p:sp>
        <p:nvSpPr>
          <p:cNvPr id="13" name="Text 10"/>
          <p:cNvSpPr/>
          <p:nvPr/>
        </p:nvSpPr>
        <p:spPr>
          <a:xfrm>
            <a:off x="7589520" y="3520440"/>
            <a:ext cx="3749040" cy="1737360"/>
          </a:xfrm>
          <a:prstGeom prst="rect">
            <a:avLst/>
          </a:prstGeom>
          <a:noFill/>
          <a:ln/>
        </p:spPr>
        <p:txBody>
          <a:bodyPr wrap="square" rtlCol="0" anchor="ctr"/>
          <a:lstStyle/>
          <a:p>
            <a:pPr marL="0" indent="0">
              <a:buNone/>
            </a:pPr>
            <a:r>
              <a:rPr lang="en-US" sz="1150" dirty="0">
                <a:solidFill>
                  <a:srgbClr val="B7BDCC"/>
                </a:solidFill>
                <a:latin typeface="Calibri" pitchFamily="34" charset="0"/>
                <a:ea typeface="Calibri" pitchFamily="34" charset="-122"/>
                <a:cs typeface="Calibri" pitchFamily="34" charset="-120"/>
              </a:rPr>
              <a:t>96% accuracy on familiar cones, and — unlike a simple rule-based gradient check — the CNN stays reliable even on cones it wasn't trained on (e.g. cones with stickers altering their intensity pattern).</a:t>
            </a:r>
            <a:endParaRPr lang="en-US" sz="1150" dirty="0"/>
          </a:p>
        </p:txBody>
      </p:sp>
      <p:sp>
        <p:nvSpPr>
          <p:cNvPr id="15" name="Text 12"/>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A91A6"/>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63946"/>
          </a:solidFill>
          <a:ln/>
        </p:spPr>
      </p:sp>
      <p:pic>
        <p:nvPicPr>
          <p:cNvPr id="3" name="Image 0" descr="/home/claude/amz_deck/icons/camera.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p:nvPr/>
        </p:nvSpPr>
        <p:spPr>
          <a:xfrm>
            <a:off x="1325880" y="438912"/>
            <a:ext cx="10314432" cy="27432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PERCEPTION — CAMERA</a:t>
            </a:r>
            <a:endParaRPr lang="en-US" sz="1200" dirty="0"/>
          </a:p>
        </p:txBody>
      </p:sp>
      <p:sp>
        <p:nvSpPr>
          <p:cNvPr id="5" name="Text 2"/>
          <p:cNvSpPr/>
          <p:nvPr/>
        </p:nvSpPr>
        <p:spPr>
          <a:xfrm>
            <a:off x="1325880" y="658368"/>
            <a:ext cx="10314432"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Monocular vs. Stereo: Two Ways to Find 3D Cones</a:t>
            </a:r>
            <a:endParaRPr lang="en-US" sz="3000" dirty="0"/>
          </a:p>
        </p:txBody>
      </p:sp>
      <p:sp>
        <p:nvSpPr>
          <p:cNvPr id="6" name="Shape 3"/>
          <p:cNvSpPr/>
          <p:nvPr/>
        </p:nvSpPr>
        <p:spPr>
          <a:xfrm>
            <a:off x="548640" y="1234440"/>
            <a:ext cx="11091672" cy="0"/>
          </a:xfrm>
          <a:prstGeom prst="line">
            <a:avLst/>
          </a:prstGeom>
          <a:noFill/>
          <a:ln w="12700">
            <a:solidFill>
              <a:srgbClr val="2A3245"/>
            </a:solidFill>
            <a:prstDash val="solid"/>
          </a:ln>
        </p:spPr>
      </p:sp>
      <p:sp>
        <p:nvSpPr>
          <p:cNvPr id="7" name="Shape 4"/>
          <p:cNvSpPr/>
          <p:nvPr/>
        </p:nvSpPr>
        <p:spPr>
          <a:xfrm>
            <a:off x="548640" y="1508760"/>
            <a:ext cx="11064240" cy="685800"/>
          </a:xfrm>
          <a:prstGeom prst="roundRect">
            <a:avLst>
              <a:gd name="adj" fmla="val 10667"/>
            </a:avLst>
          </a:prstGeom>
          <a:solidFill>
            <a:srgbClr val="1B2233"/>
          </a:solidFill>
          <a:ln/>
        </p:spPr>
      </p:sp>
      <p:sp>
        <p:nvSpPr>
          <p:cNvPr id="8" name="Text 5"/>
          <p:cNvSpPr/>
          <p:nvPr/>
        </p:nvSpPr>
        <p:spPr>
          <a:xfrm>
            <a:off x="822960" y="1508760"/>
            <a:ext cx="10515600" cy="6858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Shared first step — YOLOv2 detects &amp; classifies cones (blue / yellow / orange) as 2D bounding boxes</a:t>
            </a:r>
            <a:endParaRPr lang="en-US" sz="1250" dirty="0"/>
          </a:p>
        </p:txBody>
      </p:sp>
      <p:sp>
        <p:nvSpPr>
          <p:cNvPr id="9" name="Shape 6"/>
          <p:cNvSpPr/>
          <p:nvPr/>
        </p:nvSpPr>
        <p:spPr>
          <a:xfrm>
            <a:off x="548640" y="2377440"/>
            <a:ext cx="5349240" cy="3657600"/>
          </a:xfrm>
          <a:prstGeom prst="roundRect">
            <a:avLst>
              <a:gd name="adj" fmla="val 2000"/>
            </a:avLst>
          </a:prstGeom>
          <a:solidFill>
            <a:srgbClr val="141924"/>
          </a:solidFill>
          <a:ln/>
        </p:spPr>
      </p:sp>
      <p:sp>
        <p:nvSpPr>
          <p:cNvPr id="10" name="Text 7"/>
          <p:cNvSpPr/>
          <p:nvPr/>
        </p:nvSpPr>
        <p:spPr>
          <a:xfrm>
            <a:off x="822960" y="2560320"/>
            <a:ext cx="4846320" cy="320040"/>
          </a:xfrm>
          <a:prstGeom prst="rect">
            <a:avLst/>
          </a:prstGeom>
          <a:noFill/>
          <a:ln/>
        </p:spPr>
        <p:txBody>
          <a:bodyPr wrap="square" rtlCol="0" anchor="ctr"/>
          <a:lstStyle/>
          <a:p>
            <a:pPr marL="0" indent="0">
              <a:buNone/>
            </a:pPr>
            <a:r>
              <a:rPr lang="en-US" sz="1300" b="1" dirty="0">
                <a:solidFill>
                  <a:srgbClr val="E63946"/>
                </a:solidFill>
                <a:latin typeface="Calibri" pitchFamily="34" charset="0"/>
                <a:ea typeface="Calibri" pitchFamily="34" charset="-122"/>
                <a:cs typeface="Calibri" pitchFamily="34" charset="-120"/>
              </a:rPr>
              <a:t>MONOCULAR PIPELINE</a:t>
            </a:r>
            <a:endParaRPr lang="en-US" sz="1300" dirty="0"/>
          </a:p>
        </p:txBody>
      </p:sp>
      <p:sp>
        <p:nvSpPr>
          <p:cNvPr id="11" name="Text 8"/>
          <p:cNvSpPr/>
          <p:nvPr/>
        </p:nvSpPr>
        <p:spPr>
          <a:xfrm>
            <a:off x="822960" y="2926080"/>
            <a:ext cx="4846320" cy="2926080"/>
          </a:xfrm>
          <a:prstGeom prst="rect">
            <a:avLst/>
          </a:prstGeom>
          <a:noFill/>
          <a:ln/>
        </p:spPr>
        <p:txBody>
          <a:bodyPr wrap="square" lIns="0" tIns="0" rIns="0" bIns="0" rtlCol="0" anchor="t"/>
          <a:lstStyle/>
          <a:p>
            <a:pPr marL="228600" indent="-228600">
              <a:lnSpc>
                <a:spcPts val="1620"/>
              </a:lnSpc>
              <a:spcAft>
                <a:spcPts val="1000"/>
              </a:spcAft>
              <a:buSzPct val="100000"/>
              <a:buChar char="▪"/>
            </a:pPr>
            <a:r>
              <a:rPr lang="en-US" sz="1200" dirty="0">
                <a:solidFill>
                  <a:srgbClr val="B7BDCC"/>
                </a:solidFill>
                <a:latin typeface="Calibri" pitchFamily="34" charset="0"/>
                <a:ea typeface="Calibri" pitchFamily="34" charset="-122"/>
                <a:cs typeface="Calibri" pitchFamily="34" charset="-120"/>
              </a:rPr>
              <a:t>CNN regresses 7 known “keypoints” on the cone (corner-like features) from a single image.</a:t>
            </a:r>
            <a:endParaRPr lang="en-US" sz="1200" dirty="0"/>
          </a:p>
          <a:p>
            <a:pPr marL="228600" indent="-228600">
              <a:lnSpc>
                <a:spcPts val="1620"/>
              </a:lnSpc>
              <a:spcAft>
                <a:spcPts val="1000"/>
              </a:spcAft>
              <a:buSzPct val="100000"/>
              <a:buChar char="▪"/>
            </a:pPr>
            <a:r>
              <a:rPr lang="en-US" sz="1200" dirty="0">
                <a:solidFill>
                  <a:srgbClr val="B7BDCC"/>
                </a:solidFill>
                <a:latin typeface="Calibri" pitchFamily="34" charset="0"/>
                <a:ea typeface="Calibri" pitchFamily="34" charset="-122"/>
                <a:cs typeface="Calibri" pitchFamily="34" charset="-120"/>
              </a:rPr>
              <a:t>Since one image alone can't resolve depth, the cone's known real-world size/shape is used as a geometric prior.</a:t>
            </a:r>
            <a:endParaRPr lang="en-US" sz="1200" dirty="0"/>
          </a:p>
          <a:p>
            <a:pPr marL="228600" indent="-228600">
              <a:lnSpc>
                <a:spcPts val="1620"/>
              </a:lnSpc>
              <a:spcAft>
                <a:spcPts val="1000"/>
              </a:spcAft>
              <a:buSzPct val="100000"/>
              <a:buChar char="▪"/>
            </a:pPr>
            <a:r>
              <a:rPr lang="en-US" sz="1200" dirty="0">
                <a:solidFill>
                  <a:srgbClr val="B7BDCC"/>
                </a:solidFill>
                <a:latin typeface="Calibri" pitchFamily="34" charset="0"/>
                <a:ea typeface="Calibri" pitchFamily="34" charset="-122"/>
                <a:cs typeface="Calibri" pitchFamily="34" charset="-120"/>
              </a:rPr>
              <a:t>PnP (Perspective-n-Point) matches the 2D keypoints to their 3D prior to estimate the cone's full 3D pose.</a:t>
            </a:r>
            <a:endParaRPr lang="en-US" sz="1200" dirty="0"/>
          </a:p>
        </p:txBody>
      </p:sp>
      <p:sp>
        <p:nvSpPr>
          <p:cNvPr id="12" name="Shape 9"/>
          <p:cNvSpPr/>
          <p:nvPr/>
        </p:nvSpPr>
        <p:spPr>
          <a:xfrm>
            <a:off x="6080760" y="2377440"/>
            <a:ext cx="5532120" cy="3657600"/>
          </a:xfrm>
          <a:prstGeom prst="roundRect">
            <a:avLst>
              <a:gd name="adj" fmla="val 2000"/>
            </a:avLst>
          </a:prstGeom>
          <a:solidFill>
            <a:srgbClr val="141924"/>
          </a:solidFill>
          <a:ln/>
        </p:spPr>
      </p:sp>
      <p:sp>
        <p:nvSpPr>
          <p:cNvPr id="13" name="Text 10"/>
          <p:cNvSpPr/>
          <p:nvPr/>
        </p:nvSpPr>
        <p:spPr>
          <a:xfrm>
            <a:off x="6355080" y="2560320"/>
            <a:ext cx="5029200" cy="320040"/>
          </a:xfrm>
          <a:prstGeom prst="rect">
            <a:avLst/>
          </a:prstGeom>
          <a:noFill/>
          <a:ln/>
        </p:spPr>
        <p:txBody>
          <a:bodyPr wrap="square" rtlCol="0" anchor="ctr"/>
          <a:lstStyle/>
          <a:p>
            <a:pPr marL="0" indent="0">
              <a:buNone/>
            </a:pPr>
            <a:r>
              <a:rPr lang="en-US" sz="1300" b="1" dirty="0">
                <a:solidFill>
                  <a:srgbClr val="E63946"/>
                </a:solidFill>
                <a:latin typeface="Calibri" pitchFamily="34" charset="0"/>
                <a:ea typeface="Calibri" pitchFamily="34" charset="-122"/>
                <a:cs typeface="Calibri" pitchFamily="34" charset="-120"/>
              </a:rPr>
              <a:t>STEREO PIPELINE</a:t>
            </a:r>
            <a:endParaRPr lang="en-US" sz="1300" dirty="0"/>
          </a:p>
        </p:txBody>
      </p:sp>
      <p:sp>
        <p:nvSpPr>
          <p:cNvPr id="14" name="Text 11"/>
          <p:cNvSpPr/>
          <p:nvPr/>
        </p:nvSpPr>
        <p:spPr>
          <a:xfrm>
            <a:off x="6355080" y="2926080"/>
            <a:ext cx="5029200" cy="2926080"/>
          </a:xfrm>
          <a:prstGeom prst="rect">
            <a:avLst/>
          </a:prstGeom>
          <a:noFill/>
          <a:ln/>
        </p:spPr>
        <p:txBody>
          <a:bodyPr wrap="square" lIns="0" tIns="0" rIns="0" bIns="0" rtlCol="0" anchor="t"/>
          <a:lstStyle/>
          <a:p>
            <a:pPr marL="228600" indent="-228600">
              <a:lnSpc>
                <a:spcPts val="1620"/>
              </a:lnSpc>
              <a:spcAft>
                <a:spcPts val="1000"/>
              </a:spcAft>
              <a:buSzPct val="100000"/>
              <a:buChar char="▪"/>
            </a:pPr>
            <a:r>
              <a:rPr lang="en-US" sz="1200" dirty="0">
                <a:solidFill>
                  <a:srgbClr val="B7BDCC"/>
                </a:solidFill>
                <a:latin typeface="Calibri" pitchFamily="34" charset="0"/>
                <a:ea typeface="Calibri" pitchFamily="34" charset="-122"/>
                <a:cs typeface="Calibri" pitchFamily="34" charset="-120"/>
              </a:rPr>
              <a:t>Detection runs only on the left frame; the bounding box is propagated to the right frame using stereo geometry.</a:t>
            </a:r>
            <a:endParaRPr lang="en-US" sz="1200" dirty="0"/>
          </a:p>
          <a:p>
            <a:pPr marL="228600" indent="-228600">
              <a:lnSpc>
                <a:spcPts val="1620"/>
              </a:lnSpc>
              <a:spcAft>
                <a:spcPts val="1000"/>
              </a:spcAft>
              <a:buSzPct val="100000"/>
              <a:buChar char="▪"/>
            </a:pPr>
            <a:r>
              <a:rPr lang="en-US" sz="1200" dirty="0">
                <a:solidFill>
                  <a:srgbClr val="B7BDCC"/>
                </a:solidFill>
                <a:latin typeface="Calibri" pitchFamily="34" charset="0"/>
                <a:ea typeface="Calibri" pitchFamily="34" charset="-122"/>
                <a:cs typeface="Calibri" pitchFamily="34" charset="-120"/>
              </a:rPr>
              <a:t>SIFT features are matched between the left/right boxes — chosen over BRISK for fewer mismatches.</a:t>
            </a:r>
            <a:endParaRPr lang="en-US" sz="1200" dirty="0"/>
          </a:p>
          <a:p>
            <a:pPr marL="228600" indent="-228600">
              <a:lnSpc>
                <a:spcPts val="1620"/>
              </a:lnSpc>
              <a:spcAft>
                <a:spcPts val="1000"/>
              </a:spcAft>
              <a:buSzPct val="100000"/>
              <a:buChar char="▪"/>
            </a:pPr>
            <a:r>
              <a:rPr lang="en-US" sz="1200" dirty="0">
                <a:solidFill>
                  <a:srgbClr val="B7BDCC"/>
                </a:solidFill>
                <a:latin typeface="Calibri" pitchFamily="34" charset="0"/>
                <a:ea typeface="Calibri" pitchFamily="34" charset="-122"/>
                <a:cs typeface="Calibri" pitchFamily="34" charset="-120"/>
              </a:rPr>
              <a:t>Matched points are triangulated directly for 3D position — no size/shape prior needed, and generally lower variance than PnP.</a:t>
            </a:r>
            <a:endParaRPr lang="en-US" sz="1200" dirty="0"/>
          </a:p>
        </p:txBody>
      </p:sp>
      <p:sp>
        <p:nvSpPr>
          <p:cNvPr id="16" name="Text 13"/>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A91A6"/>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63946"/>
          </a:solidFill>
          <a:ln/>
        </p:spPr>
      </p:sp>
      <p:pic>
        <p:nvPicPr>
          <p:cNvPr id="3" name="Image 0" descr="/home/claude/amz_deck/icons/shield.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p:nvPr/>
        </p:nvSpPr>
        <p:spPr>
          <a:xfrm>
            <a:off x="1325880" y="438912"/>
            <a:ext cx="10314432" cy="27432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PERCEPTION — AS A WHOLE</a:t>
            </a:r>
            <a:endParaRPr lang="en-US" sz="1200" dirty="0"/>
          </a:p>
        </p:txBody>
      </p:sp>
      <p:sp>
        <p:nvSpPr>
          <p:cNvPr id="5" name="Text 2"/>
          <p:cNvSpPr/>
          <p:nvPr/>
        </p:nvSpPr>
        <p:spPr>
          <a:xfrm>
            <a:off x="1325880" y="658368"/>
            <a:ext cx="10314432"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Why Two Independent Pipelines</a:t>
            </a:r>
            <a:endParaRPr lang="en-US" sz="3000" dirty="0"/>
          </a:p>
        </p:txBody>
      </p:sp>
      <p:sp>
        <p:nvSpPr>
          <p:cNvPr id="6" name="Shape 3"/>
          <p:cNvSpPr/>
          <p:nvPr/>
        </p:nvSpPr>
        <p:spPr>
          <a:xfrm>
            <a:off x="548640" y="1234440"/>
            <a:ext cx="11091672" cy="0"/>
          </a:xfrm>
          <a:prstGeom prst="line">
            <a:avLst/>
          </a:prstGeom>
          <a:noFill/>
          <a:ln w="12700">
            <a:solidFill>
              <a:srgbClr val="2A3245"/>
            </a:solidFill>
            <a:prstDash val="solid"/>
          </a:ln>
        </p:spPr>
      </p:sp>
      <p:sp>
        <p:nvSpPr>
          <p:cNvPr id="7" name="Shape 4"/>
          <p:cNvSpPr/>
          <p:nvPr/>
        </p:nvSpPr>
        <p:spPr>
          <a:xfrm>
            <a:off x="548640" y="1554480"/>
            <a:ext cx="5349240" cy="3931920"/>
          </a:xfrm>
          <a:prstGeom prst="roundRect">
            <a:avLst>
              <a:gd name="adj" fmla="val 1860"/>
            </a:avLst>
          </a:prstGeom>
          <a:solidFill>
            <a:srgbClr val="141924"/>
          </a:solidFill>
          <a:ln/>
        </p:spPr>
      </p:sp>
      <p:sp>
        <p:nvSpPr>
          <p:cNvPr id="8" name="Text 5"/>
          <p:cNvSpPr/>
          <p:nvPr/>
        </p:nvSpPr>
        <p:spPr>
          <a:xfrm>
            <a:off x="822960" y="1737360"/>
            <a:ext cx="4846320" cy="320040"/>
          </a:xfrm>
          <a:prstGeom prst="rect">
            <a:avLst/>
          </a:prstGeom>
          <a:noFill/>
          <a:ln/>
        </p:spPr>
        <p:txBody>
          <a:bodyPr wrap="square" rtlCol="0" anchor="ctr"/>
          <a:lstStyle/>
          <a:p>
            <a:pPr marL="0" indent="0">
              <a:buNone/>
            </a:pPr>
            <a:r>
              <a:rPr lang="en-US" sz="1400" b="1" dirty="0">
                <a:solidFill>
                  <a:srgbClr val="E63946"/>
                </a:solidFill>
                <a:latin typeface="Calibri" pitchFamily="34" charset="0"/>
                <a:ea typeface="Calibri" pitchFamily="34" charset="-122"/>
                <a:cs typeface="Calibri" pitchFamily="34" charset="-120"/>
              </a:rPr>
              <a:t>Sensor Redundancy</a:t>
            </a:r>
            <a:endParaRPr lang="en-US" sz="1400" dirty="0"/>
          </a:p>
        </p:txBody>
      </p:sp>
      <p:sp>
        <p:nvSpPr>
          <p:cNvPr id="9" name="Text 6"/>
          <p:cNvSpPr/>
          <p:nvPr/>
        </p:nvSpPr>
        <p:spPr>
          <a:xfrm>
            <a:off x="822960" y="2103120"/>
            <a:ext cx="4846320" cy="3200400"/>
          </a:xfrm>
          <a:prstGeom prst="rect">
            <a:avLst/>
          </a:prstGeom>
          <a:noFill/>
          <a:ln/>
        </p:spPr>
        <p:txBody>
          <a:bodyPr wrap="square" lIns="0" tIns="0" rIns="0" bIns="0" rtlCol="0" anchor="t"/>
          <a:lstStyle/>
          <a:p>
            <a:pPr marL="228600" indent="-228600">
              <a:lnSpc>
                <a:spcPts val="1688"/>
              </a:lnSpc>
              <a:spcAft>
                <a:spcPts val="1200"/>
              </a:spcAft>
              <a:buSzPct val="100000"/>
              <a:buChar char="▪"/>
            </a:pPr>
            <a:r>
              <a:rPr lang="en-US" sz="1250" dirty="0">
                <a:solidFill>
                  <a:srgbClr val="B7BDCC"/>
                </a:solidFill>
                <a:latin typeface="Calibri" pitchFamily="34" charset="0"/>
                <a:ea typeface="Calibri" pitchFamily="34" charset="-122"/>
                <a:cs typeface="Calibri" pitchFamily="34" charset="-120"/>
              </a:rPr>
              <a:t>LiDAR and camera pipelines run fully independently, at both hardware and software level.</a:t>
            </a:r>
            <a:endParaRPr lang="en-US" sz="1250" dirty="0"/>
          </a:p>
          <a:p>
            <a:pPr marL="228600" indent="-228600">
              <a:lnSpc>
                <a:spcPts val="1688"/>
              </a:lnSpc>
              <a:spcAft>
                <a:spcPts val="1200"/>
              </a:spcAft>
              <a:buSzPct val="100000"/>
              <a:buChar char="▪"/>
            </a:pPr>
            <a:r>
              <a:rPr lang="en-US" sz="1250" dirty="0">
                <a:solidFill>
                  <a:srgbClr val="B7BDCC"/>
                </a:solidFill>
                <a:latin typeface="Calibri" pitchFamily="34" charset="0"/>
                <a:ea typeface="Calibri" pitchFamily="34" charset="-122"/>
                <a:cs typeface="Calibri" pitchFamily="34" charset="-120"/>
              </a:rPr>
              <a:t>Each sensor has different failure modes — a camera can be blinded by glare, LiDAR struggles with tiny/distant cones — so redundancy means one failing doesn't blind the car.</a:t>
            </a:r>
            <a:endParaRPr lang="en-US" sz="1250" dirty="0"/>
          </a:p>
          <a:p>
            <a:pPr marL="228600" indent="-228600">
              <a:lnSpc>
                <a:spcPts val="1688"/>
              </a:lnSpc>
              <a:spcAft>
                <a:spcPts val="1200"/>
              </a:spcAft>
              <a:buSzPct val="100000"/>
              <a:buChar char="▪"/>
            </a:pPr>
            <a:r>
              <a:rPr lang="en-US" sz="1250" dirty="0">
                <a:solidFill>
                  <a:srgbClr val="B7BDCC"/>
                </a:solidFill>
                <a:latin typeface="Calibri" pitchFamily="34" charset="0"/>
                <a:ea typeface="Calibri" pitchFamily="34" charset="-122"/>
                <a:cs typeface="Calibri" pitchFamily="34" charset="-120"/>
              </a:rPr>
              <a:t>Both pipelines feed the same SLAM map, so the system tolerates a single-sensor failure without stopping.</a:t>
            </a:r>
            <a:endParaRPr lang="en-US" sz="1250" dirty="0"/>
          </a:p>
        </p:txBody>
      </p:sp>
      <p:sp>
        <p:nvSpPr>
          <p:cNvPr id="10" name="Shape 7"/>
          <p:cNvSpPr/>
          <p:nvPr/>
        </p:nvSpPr>
        <p:spPr>
          <a:xfrm>
            <a:off x="6080760" y="1554480"/>
            <a:ext cx="5532120" cy="3931920"/>
          </a:xfrm>
          <a:prstGeom prst="roundRect">
            <a:avLst>
              <a:gd name="adj" fmla="val 1860"/>
            </a:avLst>
          </a:prstGeom>
          <a:solidFill>
            <a:srgbClr val="141924"/>
          </a:solidFill>
          <a:ln/>
        </p:spPr>
      </p:sp>
      <p:sp>
        <p:nvSpPr>
          <p:cNvPr id="11" name="Text 8"/>
          <p:cNvSpPr/>
          <p:nvPr/>
        </p:nvSpPr>
        <p:spPr>
          <a:xfrm>
            <a:off x="6355080" y="1737360"/>
            <a:ext cx="5029200" cy="320040"/>
          </a:xfrm>
          <a:prstGeom prst="rect">
            <a:avLst/>
          </a:prstGeom>
          <a:noFill/>
          <a:ln/>
        </p:spPr>
        <p:txBody>
          <a:bodyPr wrap="square" rtlCol="0" anchor="ctr"/>
          <a:lstStyle/>
          <a:p>
            <a:pPr marL="0" indent="0">
              <a:buNone/>
            </a:pPr>
            <a:r>
              <a:rPr lang="en-US" sz="1400" b="1" dirty="0">
                <a:solidFill>
                  <a:srgbClr val="E63946"/>
                </a:solidFill>
                <a:latin typeface="Calibri" pitchFamily="34" charset="0"/>
                <a:ea typeface="Calibri" pitchFamily="34" charset="-122"/>
                <a:cs typeface="Calibri" pitchFamily="34" charset="-120"/>
              </a:rPr>
              <a:t>Validated Results</a:t>
            </a:r>
            <a:endParaRPr lang="en-US" sz="1400" dirty="0"/>
          </a:p>
        </p:txBody>
      </p:sp>
      <p:sp>
        <p:nvSpPr>
          <p:cNvPr id="12" name="Text 9"/>
          <p:cNvSpPr/>
          <p:nvPr/>
        </p:nvSpPr>
        <p:spPr>
          <a:xfrm>
            <a:off x="6355080" y="2103120"/>
            <a:ext cx="5029200" cy="3200400"/>
          </a:xfrm>
          <a:prstGeom prst="rect">
            <a:avLst/>
          </a:prstGeom>
          <a:noFill/>
          <a:ln/>
        </p:spPr>
        <p:txBody>
          <a:bodyPr wrap="square" lIns="0" tIns="0" rIns="0" bIns="0" rtlCol="0" anchor="t"/>
          <a:lstStyle/>
          <a:p>
            <a:pPr marL="228600" indent="-228600">
              <a:lnSpc>
                <a:spcPts val="1688"/>
              </a:lnSpc>
              <a:spcAft>
                <a:spcPts val="1200"/>
              </a:spcAft>
              <a:buSzPct val="100000"/>
              <a:buChar char="▪"/>
            </a:pPr>
            <a:r>
              <a:rPr lang="en-US" sz="1250" dirty="0">
                <a:solidFill>
                  <a:srgbClr val="B7BDCC"/>
                </a:solidFill>
                <a:latin typeface="Calibri" pitchFamily="34" charset="0"/>
                <a:ea typeface="Calibri" pitchFamily="34" charset="-122"/>
                <a:cs typeface="Calibri" pitchFamily="34" charset="-120"/>
              </a:rPr>
              <a:t>LiDAR color estimation: 96% accuracy on familiar cones; robust even on unfamiliar (sticker-modified) cones.</a:t>
            </a:r>
            <a:endParaRPr lang="en-US" sz="1250" dirty="0"/>
          </a:p>
          <a:p>
            <a:pPr marL="228600" indent="-228600">
              <a:lnSpc>
                <a:spcPts val="1688"/>
              </a:lnSpc>
              <a:spcAft>
                <a:spcPts val="1200"/>
              </a:spcAft>
              <a:buSzPct val="100000"/>
              <a:buChar char="▪"/>
            </a:pPr>
            <a:r>
              <a:rPr lang="en-US" sz="1250" dirty="0">
                <a:solidFill>
                  <a:srgbClr val="B7BDCC"/>
                </a:solidFill>
                <a:latin typeface="Calibri" pitchFamily="34" charset="0"/>
                <a:ea typeface="Calibri" pitchFamily="34" charset="-122"/>
                <a:cs typeface="Calibri" pitchFamily="34" charset="-120"/>
              </a:rPr>
              <a:t>Camera-vs-LiDAR position error stays under 1.0 m even at 15 m range.</a:t>
            </a:r>
            <a:endParaRPr lang="en-US" sz="1250" dirty="0"/>
          </a:p>
          <a:p>
            <a:pPr marL="228600" indent="-228600">
              <a:lnSpc>
                <a:spcPts val="1688"/>
              </a:lnSpc>
              <a:spcAft>
                <a:spcPts val="1200"/>
              </a:spcAft>
              <a:buSzPct val="100000"/>
              <a:buChar char="▪"/>
            </a:pPr>
            <a:r>
              <a:rPr lang="en-US" sz="1250" dirty="0">
                <a:solidFill>
                  <a:srgbClr val="B7BDCC"/>
                </a:solidFill>
                <a:latin typeface="Calibri" pitchFamily="34" charset="0"/>
                <a:ea typeface="Calibri" pitchFamily="34" charset="-122"/>
                <a:cs typeface="Calibri" pitchFamily="34" charset="-120"/>
              </a:rPr>
              <a:t>Stereo position estimates have lower variance than monocular (PnP) estimates.</a:t>
            </a:r>
            <a:endParaRPr lang="en-US" sz="1250" dirty="0"/>
          </a:p>
          <a:p>
            <a:pPr marL="228600" indent="-228600">
              <a:lnSpc>
                <a:spcPts val="1688"/>
              </a:lnSpc>
              <a:spcAft>
                <a:spcPts val="1200"/>
              </a:spcAft>
              <a:buSzPct val="100000"/>
              <a:buChar char="▪"/>
            </a:pPr>
            <a:r>
              <a:rPr lang="en-US" sz="1250" dirty="0">
                <a:solidFill>
                  <a:srgbClr val="B7BDCC"/>
                </a:solidFill>
                <a:latin typeface="Calibri" pitchFamily="34" charset="0"/>
                <a:ea typeface="Calibri" pitchFamily="34" charset="-122"/>
                <a:cs typeface="Calibri" pitchFamily="34" charset="-120"/>
              </a:rPr>
              <a:t>Vision-only SLAM map RMSE of just 0.25 m against ground-truth survey positions.</a:t>
            </a:r>
            <a:endParaRPr lang="en-US" sz="1250" dirty="0"/>
          </a:p>
        </p:txBody>
      </p:sp>
      <p:sp>
        <p:nvSpPr>
          <p:cNvPr id="14" name="Text 11"/>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A91A6"/>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63946"/>
          </a:solidFill>
          <a:ln/>
        </p:spPr>
      </p:sp>
      <p:pic>
        <p:nvPicPr>
          <p:cNvPr id="3" name="Image 0" descr="/home/claude/amz_deck/icons/tachometer.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p:nvPr/>
        </p:nvSpPr>
        <p:spPr>
          <a:xfrm>
            <a:off x="1325880" y="438912"/>
            <a:ext cx="10314432" cy="27432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MOTION ESTIMATION</a:t>
            </a:r>
            <a:endParaRPr lang="en-US" sz="1200" dirty="0"/>
          </a:p>
        </p:txBody>
      </p:sp>
      <p:sp>
        <p:nvSpPr>
          <p:cNvPr id="5" name="Text 2"/>
          <p:cNvSpPr/>
          <p:nvPr/>
        </p:nvSpPr>
        <p:spPr>
          <a:xfrm>
            <a:off x="1325880" y="658368"/>
            <a:ext cx="10314432"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Why the Car Must Know Its Own Motion</a:t>
            </a:r>
            <a:endParaRPr lang="en-US" sz="3000" dirty="0"/>
          </a:p>
        </p:txBody>
      </p:sp>
      <p:sp>
        <p:nvSpPr>
          <p:cNvPr id="6" name="Shape 3"/>
          <p:cNvSpPr/>
          <p:nvPr/>
        </p:nvSpPr>
        <p:spPr>
          <a:xfrm>
            <a:off x="548640" y="1234440"/>
            <a:ext cx="11091672" cy="0"/>
          </a:xfrm>
          <a:prstGeom prst="line">
            <a:avLst/>
          </a:prstGeom>
          <a:noFill/>
          <a:ln w="12700">
            <a:solidFill>
              <a:srgbClr val="2A3245"/>
            </a:solidFill>
            <a:prstDash val="solid"/>
          </a:ln>
        </p:spPr>
      </p:sp>
      <p:sp>
        <p:nvSpPr>
          <p:cNvPr id="7" name="Text 4"/>
          <p:cNvSpPr/>
          <p:nvPr/>
        </p:nvSpPr>
        <p:spPr>
          <a:xfrm>
            <a:off x="548640" y="1554480"/>
            <a:ext cx="6035040" cy="3840480"/>
          </a:xfrm>
          <a:prstGeom prst="rect">
            <a:avLst/>
          </a:prstGeom>
          <a:noFill/>
          <a:ln/>
        </p:spPr>
        <p:txBody>
          <a:bodyPr wrap="square" lIns="0" tIns="0" rIns="0" bIns="0" rtlCol="0" anchor="t"/>
          <a:lstStyle/>
          <a:p>
            <a:pPr marL="228600" indent="-228600">
              <a:lnSpc>
                <a:spcPts val="1890"/>
              </a:lnSpc>
              <a:spcAft>
                <a:spcPts val="1600"/>
              </a:spcAft>
              <a:buSzPct val="100000"/>
              <a:buChar char="▪"/>
            </a:pPr>
            <a:r>
              <a:rPr lang="en-US" sz="1400" dirty="0">
                <a:solidFill>
                  <a:srgbClr val="B7BDCC"/>
                </a:solidFill>
                <a:latin typeface="Calibri" pitchFamily="34" charset="0"/>
                <a:ea typeface="Calibri" pitchFamily="34" charset="-122"/>
                <a:cs typeface="Calibri" pitchFamily="34" charset="-120"/>
              </a:rPr>
              <a:t>Velocity feeds three different downstream systems: undistorting LiDAR scans, propagating the SLAM motion model, and the control loop itself.</a:t>
            </a:r>
            <a:endParaRPr lang="en-US" sz="1400" dirty="0"/>
          </a:p>
          <a:p>
            <a:pPr marL="228600" indent="-228600">
              <a:lnSpc>
                <a:spcPts val="1890"/>
              </a:lnSpc>
              <a:spcAft>
                <a:spcPts val="1600"/>
              </a:spcAft>
              <a:buSzPct val="100000"/>
              <a:buChar char="▪"/>
            </a:pPr>
            <a:r>
              <a:rPr lang="en-US" sz="1400" dirty="0">
                <a:solidFill>
                  <a:srgbClr val="B7BDCC"/>
                </a:solidFill>
                <a:latin typeface="Calibri" pitchFamily="34" charset="0"/>
                <a:ea typeface="Calibri" pitchFamily="34" charset="-122"/>
                <a:cs typeface="Calibri" pitchFamily="34" charset="-120"/>
              </a:rPr>
              <a:t>No single sensor measurement can be fully trusted alone — every sensor has its own bias, noise, and failure characteristics.</a:t>
            </a:r>
            <a:endParaRPr lang="en-US" sz="1400" dirty="0"/>
          </a:p>
          <a:p>
            <a:pPr marL="228600" indent="-228600">
              <a:lnSpc>
                <a:spcPts val="1890"/>
              </a:lnSpc>
              <a:spcAft>
                <a:spcPts val="1600"/>
              </a:spcAft>
              <a:buSzPct val="100000"/>
              <a:buChar char="▪"/>
            </a:pPr>
            <a:r>
              <a:rPr lang="en-US" sz="1400" dirty="0">
                <a:solidFill>
                  <a:srgbClr val="B7BDCC"/>
                </a:solidFill>
                <a:latin typeface="Calibri" pitchFamily="34" charset="0"/>
                <a:ea typeface="Calibri" pitchFamily="34" charset="-122"/>
                <a:cs typeface="Calibri" pitchFamily="34" charset="-120"/>
              </a:rPr>
              <a:t>A 9-state Extended Kalman Filter (EKF) fuses six different sensors together, using a vehicle/tire-slip model to predict, then correcting with real measurements.</a:t>
            </a:r>
            <a:endParaRPr lang="en-US" sz="1400" dirty="0"/>
          </a:p>
        </p:txBody>
      </p:sp>
      <p:sp>
        <p:nvSpPr>
          <p:cNvPr id="8" name="Shape 5"/>
          <p:cNvSpPr/>
          <p:nvPr/>
        </p:nvSpPr>
        <p:spPr>
          <a:xfrm>
            <a:off x="6858000" y="1554480"/>
            <a:ext cx="4754880" cy="4023360"/>
          </a:xfrm>
          <a:prstGeom prst="roundRect">
            <a:avLst>
              <a:gd name="adj" fmla="val 1818"/>
            </a:avLst>
          </a:prstGeom>
          <a:solidFill>
            <a:srgbClr val="141924"/>
          </a:solidFill>
          <a:ln/>
        </p:spPr>
      </p:sp>
      <p:sp>
        <p:nvSpPr>
          <p:cNvPr id="9" name="Text 6"/>
          <p:cNvSpPr/>
          <p:nvPr/>
        </p:nvSpPr>
        <p:spPr>
          <a:xfrm>
            <a:off x="7132320" y="1737360"/>
            <a:ext cx="4206240" cy="320040"/>
          </a:xfrm>
          <a:prstGeom prst="rect">
            <a:avLst/>
          </a:prstGeom>
          <a:noFill/>
          <a:ln/>
        </p:spPr>
        <p:txBody>
          <a:bodyPr wrap="square" rtlCol="0" anchor="ctr"/>
          <a:lstStyle/>
          <a:p>
            <a:pPr marL="0" indent="0">
              <a:buNone/>
            </a:pPr>
            <a:r>
              <a:rPr lang="en-US" sz="1300" b="1" dirty="0">
                <a:solidFill>
                  <a:srgbClr val="E63946"/>
                </a:solidFill>
                <a:latin typeface="Calibri" pitchFamily="34" charset="0"/>
                <a:ea typeface="Calibri" pitchFamily="34" charset="-122"/>
                <a:cs typeface="Calibri" pitchFamily="34" charset="-120"/>
              </a:rPr>
              <a:t>Fused into the EKF</a:t>
            </a:r>
            <a:endParaRPr lang="en-US" sz="1300" dirty="0"/>
          </a:p>
        </p:txBody>
      </p:sp>
      <p:sp>
        <p:nvSpPr>
          <p:cNvPr id="10" name="Text 7"/>
          <p:cNvSpPr/>
          <p:nvPr/>
        </p:nvSpPr>
        <p:spPr>
          <a:xfrm>
            <a:off x="7132320" y="2148840"/>
            <a:ext cx="4206240" cy="3291840"/>
          </a:xfrm>
          <a:prstGeom prst="rect">
            <a:avLst/>
          </a:prstGeom>
          <a:noFill/>
          <a:ln/>
        </p:spPr>
        <p:txBody>
          <a:bodyPr wrap="square" lIns="0" tIns="0" rIns="0" bIns="0" rtlCol="0" anchor="t"/>
          <a:lstStyle/>
          <a:p>
            <a:pPr marL="228600" indent="-228600">
              <a:lnSpc>
                <a:spcPts val="1620"/>
              </a:lnSpc>
              <a:spcAft>
                <a:spcPts val="800"/>
              </a:spcAft>
              <a:buSzPct val="100000"/>
              <a:buChar char="▪"/>
            </a:pPr>
            <a:r>
              <a:rPr lang="en-US" sz="1200" dirty="0">
                <a:solidFill>
                  <a:srgbClr val="B7BDCC"/>
                </a:solidFill>
                <a:latin typeface="Calibri" pitchFamily="34" charset="0"/>
                <a:ea typeface="Calibri" pitchFamily="34" charset="-122"/>
                <a:cs typeface="Calibri" pitchFamily="34" charset="-120"/>
              </a:rPr>
              <a:t>Motor torque + steering angle — process model inputs</a:t>
            </a:r>
            <a:endParaRPr lang="en-US" sz="1200" dirty="0"/>
          </a:p>
          <a:p>
            <a:pPr marL="228600" indent="-228600">
              <a:lnSpc>
                <a:spcPts val="1620"/>
              </a:lnSpc>
              <a:spcAft>
                <a:spcPts val="800"/>
              </a:spcAft>
              <a:buSzPct val="100000"/>
              <a:buChar char="▪"/>
            </a:pPr>
            <a:r>
              <a:rPr lang="en-US" sz="1200" dirty="0">
                <a:solidFill>
                  <a:srgbClr val="B7BDCC"/>
                </a:solidFill>
                <a:latin typeface="Calibri" pitchFamily="34" charset="0"/>
                <a:ea typeface="Calibri" pitchFamily="34" charset="-122"/>
                <a:cs typeface="Calibri" pitchFamily="34" charset="-120"/>
              </a:rPr>
              <a:t>Tire-slip model — model-based acceleration estimate</a:t>
            </a:r>
            <a:endParaRPr lang="en-US" sz="1200" dirty="0"/>
          </a:p>
          <a:p>
            <a:pPr marL="228600" indent="-228600">
              <a:lnSpc>
                <a:spcPts val="1620"/>
              </a:lnSpc>
              <a:spcAft>
                <a:spcPts val="800"/>
              </a:spcAft>
              <a:buSzPct val="100000"/>
              <a:buChar char="▪"/>
            </a:pPr>
            <a:r>
              <a:rPr lang="en-US" sz="1200" dirty="0">
                <a:solidFill>
                  <a:srgbClr val="B7BDCC"/>
                </a:solidFill>
                <a:latin typeface="Calibri" pitchFamily="34" charset="0"/>
                <a:ea typeface="Calibri" pitchFamily="34" charset="-122"/>
                <a:cs typeface="Calibri" pitchFamily="34" charset="-120"/>
              </a:rPr>
              <a:t>IMU — acceleration, yaw rate</a:t>
            </a:r>
            <a:endParaRPr lang="en-US" sz="1200" dirty="0"/>
          </a:p>
          <a:p>
            <a:pPr marL="228600" indent="-228600">
              <a:lnSpc>
                <a:spcPts val="1620"/>
              </a:lnSpc>
              <a:spcAft>
                <a:spcPts val="800"/>
              </a:spcAft>
              <a:buSzPct val="100000"/>
              <a:buChar char="▪"/>
            </a:pPr>
            <a:r>
              <a:rPr lang="en-US" sz="1200" dirty="0">
                <a:solidFill>
                  <a:srgbClr val="B7BDCC"/>
                </a:solidFill>
                <a:latin typeface="Calibri" pitchFamily="34" charset="0"/>
                <a:ea typeface="Calibri" pitchFamily="34" charset="-122"/>
                <a:cs typeface="Calibri" pitchFamily="34" charset="-120"/>
              </a:rPr>
              <a:t>GNSS — global position/velocity</a:t>
            </a:r>
            <a:endParaRPr lang="en-US" sz="1200" dirty="0"/>
          </a:p>
          <a:p>
            <a:pPr marL="228600" indent="-228600">
              <a:lnSpc>
                <a:spcPts val="1620"/>
              </a:lnSpc>
              <a:spcAft>
                <a:spcPts val="800"/>
              </a:spcAft>
              <a:buSzPct val="100000"/>
              <a:buChar char="▪"/>
            </a:pPr>
            <a:r>
              <a:rPr lang="en-US" sz="1200" dirty="0">
                <a:solidFill>
                  <a:srgbClr val="B7BDCC"/>
                </a:solidFill>
                <a:latin typeface="Calibri" pitchFamily="34" charset="0"/>
                <a:ea typeface="Calibri" pitchFamily="34" charset="-122"/>
                <a:cs typeface="Calibri" pitchFamily="34" charset="-120"/>
              </a:rPr>
              <a:t>GSS — ground speed sensor</a:t>
            </a:r>
            <a:endParaRPr lang="en-US" sz="1200" dirty="0"/>
          </a:p>
          <a:p>
            <a:pPr marL="228600" indent="-228600">
              <a:lnSpc>
                <a:spcPts val="1620"/>
              </a:lnSpc>
              <a:spcAft>
                <a:spcPts val="800"/>
              </a:spcAft>
              <a:buSzPct val="100000"/>
              <a:buChar char="▪"/>
            </a:pPr>
            <a:r>
              <a:rPr lang="en-US" sz="1200" dirty="0">
                <a:solidFill>
                  <a:srgbClr val="B7BDCC"/>
                </a:solidFill>
                <a:latin typeface="Calibri" pitchFamily="34" charset="0"/>
                <a:ea typeface="Calibri" pitchFamily="34" charset="-122"/>
                <a:cs typeface="Calibri" pitchFamily="34" charset="-120"/>
              </a:rPr>
              <a:t>WSS — wheel speed sensors (all 4 wheels)</a:t>
            </a:r>
            <a:endParaRPr lang="en-US" sz="1200" dirty="0"/>
          </a:p>
        </p:txBody>
      </p:sp>
      <p:sp>
        <p:nvSpPr>
          <p:cNvPr id="11" name="Shape 8"/>
          <p:cNvSpPr/>
          <p:nvPr/>
        </p:nvSpPr>
        <p:spPr>
          <a:xfrm>
            <a:off x="548640" y="5532120"/>
            <a:ext cx="11064240" cy="731520"/>
          </a:xfrm>
          <a:prstGeom prst="roundRect">
            <a:avLst>
              <a:gd name="adj" fmla="val 10000"/>
            </a:avLst>
          </a:prstGeom>
          <a:solidFill>
            <a:srgbClr val="142430"/>
          </a:solidFill>
          <a:ln/>
        </p:spPr>
      </p:sp>
      <p:sp>
        <p:nvSpPr>
          <p:cNvPr id="12" name="Text 9"/>
          <p:cNvSpPr/>
          <p:nvPr/>
        </p:nvSpPr>
        <p:spPr>
          <a:xfrm>
            <a:off x="822960" y="5532120"/>
            <a:ext cx="10515600" cy="731520"/>
          </a:xfrm>
          <a:prstGeom prst="rect">
            <a:avLst/>
          </a:prstGeom>
          <a:noFill/>
          <a:ln/>
        </p:spPr>
        <p:txBody>
          <a:bodyPr wrap="square" rtlCol="0" anchor="ctr"/>
          <a:lstStyle/>
          <a:p>
            <a:pPr marL="0" indent="0">
              <a:buNone/>
            </a:pPr>
            <a:r>
              <a:rPr lang="en-US" sz="1150" i="1" dirty="0">
                <a:solidFill>
                  <a:srgbClr val="B7BDCC"/>
                </a:solidFill>
                <a:latin typeface="Calibri" pitchFamily="34" charset="0"/>
                <a:ea typeface="Calibri" pitchFamily="34" charset="-122"/>
                <a:cs typeface="Calibri" pitchFamily="34" charset="-120"/>
              </a:rPr>
              <a:t>State observability is analyzed explicitly: the system stays observable even if GSS or GNSS alone fails — a deliberate robustness design choice.</a:t>
            </a:r>
            <a:endParaRPr lang="en-US" sz="1150" dirty="0"/>
          </a:p>
        </p:txBody>
      </p:sp>
      <p:sp>
        <p:nvSpPr>
          <p:cNvPr id="13" name="Text 10"/>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A91A6"/>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63946"/>
          </a:solidFill>
          <a:ln/>
        </p:spPr>
      </p:sp>
      <p:pic>
        <p:nvPicPr>
          <p:cNvPr id="3" name="Image 0" descr="/home/claude/amz_deck/icons/warning.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p:nvPr/>
        </p:nvSpPr>
        <p:spPr>
          <a:xfrm>
            <a:off x="1325880" y="438912"/>
            <a:ext cx="10314432" cy="27432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MOTION ESTIMATION</a:t>
            </a:r>
            <a:endParaRPr lang="en-US" sz="1200" dirty="0"/>
          </a:p>
        </p:txBody>
      </p:sp>
      <p:sp>
        <p:nvSpPr>
          <p:cNvPr id="5" name="Text 2"/>
          <p:cNvSpPr/>
          <p:nvPr/>
        </p:nvSpPr>
        <p:spPr>
          <a:xfrm>
            <a:off x="1325880" y="658368"/>
            <a:ext cx="10314432"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Two Failure Types Need Two Detectors</a:t>
            </a:r>
            <a:endParaRPr lang="en-US" sz="3000" dirty="0"/>
          </a:p>
        </p:txBody>
      </p:sp>
      <p:sp>
        <p:nvSpPr>
          <p:cNvPr id="6" name="Shape 3"/>
          <p:cNvSpPr/>
          <p:nvPr/>
        </p:nvSpPr>
        <p:spPr>
          <a:xfrm>
            <a:off x="548640" y="1234440"/>
            <a:ext cx="11091672" cy="0"/>
          </a:xfrm>
          <a:prstGeom prst="line">
            <a:avLst/>
          </a:prstGeom>
          <a:noFill/>
          <a:ln w="12700">
            <a:solidFill>
              <a:srgbClr val="2A3245"/>
            </a:solidFill>
            <a:prstDash val="solid"/>
          </a:ln>
        </p:spPr>
      </p:sp>
      <p:sp>
        <p:nvSpPr>
          <p:cNvPr id="7" name="Shape 4"/>
          <p:cNvSpPr/>
          <p:nvPr/>
        </p:nvSpPr>
        <p:spPr>
          <a:xfrm>
            <a:off x="548640" y="1600200"/>
            <a:ext cx="5349240" cy="3840480"/>
          </a:xfrm>
          <a:prstGeom prst="roundRect">
            <a:avLst>
              <a:gd name="adj" fmla="val 1905"/>
            </a:avLst>
          </a:prstGeom>
          <a:solidFill>
            <a:srgbClr val="141924"/>
          </a:solidFill>
          <a:ln/>
        </p:spPr>
      </p:sp>
      <p:sp>
        <p:nvSpPr>
          <p:cNvPr id="8" name="Text 5"/>
          <p:cNvSpPr/>
          <p:nvPr/>
        </p:nvSpPr>
        <p:spPr>
          <a:xfrm>
            <a:off x="822960" y="1783080"/>
            <a:ext cx="4846320" cy="320040"/>
          </a:xfrm>
          <a:prstGeom prst="rect">
            <a:avLst/>
          </a:prstGeom>
          <a:noFill/>
          <a:ln/>
        </p:spPr>
        <p:txBody>
          <a:bodyPr wrap="square" rtlCol="0" anchor="ctr"/>
          <a:lstStyle/>
          <a:p>
            <a:pPr marL="0" indent="0">
              <a:buNone/>
            </a:pPr>
            <a:r>
              <a:rPr lang="en-US" sz="1500" b="1" dirty="0">
                <a:solidFill>
                  <a:srgbClr val="E63946"/>
                </a:solidFill>
                <a:latin typeface="Calibri" pitchFamily="34" charset="0"/>
                <a:ea typeface="Calibri" pitchFamily="34" charset="-122"/>
                <a:cs typeface="Calibri" pitchFamily="34" charset="-120"/>
              </a:rPr>
              <a:t>OUTLIERS</a:t>
            </a:r>
            <a:endParaRPr lang="en-US" sz="1500" dirty="0"/>
          </a:p>
        </p:txBody>
      </p:sp>
      <p:sp>
        <p:nvSpPr>
          <p:cNvPr id="9" name="Text 6"/>
          <p:cNvSpPr/>
          <p:nvPr/>
        </p:nvSpPr>
        <p:spPr>
          <a:xfrm>
            <a:off x="822960" y="2148840"/>
            <a:ext cx="4846320" cy="640080"/>
          </a:xfrm>
          <a:prstGeom prst="rect">
            <a:avLst/>
          </a:prstGeom>
          <a:noFill/>
          <a:ln/>
        </p:spPr>
        <p:txBody>
          <a:bodyPr wrap="square" rtlCol="0" anchor="ctr"/>
          <a:lstStyle/>
          <a:p>
            <a:pPr marL="0" indent="0">
              <a:buNone/>
            </a:pPr>
            <a:r>
              <a:rPr lang="en-US" sz="1250" dirty="0">
                <a:solidFill>
                  <a:srgbClr val="B7BDCC"/>
                </a:solidFill>
                <a:latin typeface="Calibri" pitchFamily="34" charset="0"/>
                <a:ea typeface="Calibri" pitchFamily="34" charset="-122"/>
                <a:cs typeface="Calibri" pitchFamily="34" charset="-120"/>
              </a:rPr>
              <a:t>Sudden spikes in a single measurement — one bad reading, then back to normal.</a:t>
            </a:r>
            <a:endParaRPr lang="en-US" sz="1250" dirty="0"/>
          </a:p>
        </p:txBody>
      </p:sp>
      <p:sp>
        <p:nvSpPr>
          <p:cNvPr id="10" name="Text 7"/>
          <p:cNvSpPr/>
          <p:nvPr/>
        </p:nvSpPr>
        <p:spPr>
          <a:xfrm>
            <a:off x="822960" y="2880360"/>
            <a:ext cx="4846320" cy="914400"/>
          </a:xfrm>
          <a:prstGeom prst="rect">
            <a:avLst/>
          </a:prstGeom>
          <a:noFill/>
          <a:ln/>
        </p:spPr>
        <p:txBody>
          <a:bodyPr wrap="square" rtlCol="0" anchor="ctr"/>
          <a:lstStyle/>
          <a:p>
            <a:pPr marL="0" indent="0">
              <a:buNone/>
            </a:pPr>
            <a:r>
              <a:rPr lang="en-US" sz="1250" dirty="0">
                <a:solidFill>
                  <a:srgbClr val="B7BDCC"/>
                </a:solidFill>
                <a:latin typeface="Calibri" pitchFamily="34" charset="0"/>
                <a:ea typeface="Calibri" pitchFamily="34" charset="-122"/>
                <a:cs typeface="Calibri" pitchFamily="34" charset="-120"/>
              </a:rPr>
              <a:t>Detected with a Chi-square test — works well, catching bad readings immediately as they happen.</a:t>
            </a:r>
            <a:endParaRPr lang="en-US" sz="1250" dirty="0"/>
          </a:p>
        </p:txBody>
      </p:sp>
      <p:sp>
        <p:nvSpPr>
          <p:cNvPr id="11" name="Shape 8"/>
          <p:cNvSpPr/>
          <p:nvPr/>
        </p:nvSpPr>
        <p:spPr>
          <a:xfrm>
            <a:off x="6080760" y="1600200"/>
            <a:ext cx="5532120" cy="3840480"/>
          </a:xfrm>
          <a:prstGeom prst="roundRect">
            <a:avLst>
              <a:gd name="adj" fmla="val 1905"/>
            </a:avLst>
          </a:prstGeom>
          <a:solidFill>
            <a:srgbClr val="141924"/>
          </a:solidFill>
          <a:ln/>
        </p:spPr>
      </p:sp>
      <p:sp>
        <p:nvSpPr>
          <p:cNvPr id="12" name="Text 9"/>
          <p:cNvSpPr/>
          <p:nvPr/>
        </p:nvSpPr>
        <p:spPr>
          <a:xfrm>
            <a:off x="6355080" y="1783080"/>
            <a:ext cx="5029200" cy="320040"/>
          </a:xfrm>
          <a:prstGeom prst="rect">
            <a:avLst/>
          </a:prstGeom>
          <a:noFill/>
          <a:ln/>
        </p:spPr>
        <p:txBody>
          <a:bodyPr wrap="square" rtlCol="0" anchor="ctr"/>
          <a:lstStyle/>
          <a:p>
            <a:pPr marL="0" indent="0">
              <a:buNone/>
            </a:pPr>
            <a:r>
              <a:rPr lang="en-US" sz="1500" b="1" dirty="0">
                <a:solidFill>
                  <a:srgbClr val="E63946"/>
                </a:solidFill>
                <a:latin typeface="Calibri" pitchFamily="34" charset="0"/>
                <a:ea typeface="Calibri" pitchFamily="34" charset="-122"/>
                <a:cs typeface="Calibri" pitchFamily="34" charset="-120"/>
              </a:rPr>
              <a:t>DRIFT</a:t>
            </a:r>
            <a:endParaRPr lang="en-US" sz="1500" dirty="0"/>
          </a:p>
        </p:txBody>
      </p:sp>
      <p:sp>
        <p:nvSpPr>
          <p:cNvPr id="13" name="Text 10"/>
          <p:cNvSpPr/>
          <p:nvPr/>
        </p:nvSpPr>
        <p:spPr>
          <a:xfrm>
            <a:off x="6355080" y="2148840"/>
            <a:ext cx="5029200" cy="640080"/>
          </a:xfrm>
          <a:prstGeom prst="rect">
            <a:avLst/>
          </a:prstGeom>
          <a:noFill/>
          <a:ln/>
        </p:spPr>
        <p:txBody>
          <a:bodyPr wrap="square" rtlCol="0" anchor="ctr"/>
          <a:lstStyle/>
          <a:p>
            <a:pPr marL="0" indent="0">
              <a:buNone/>
            </a:pPr>
            <a:r>
              <a:rPr lang="en-US" sz="1250" dirty="0">
                <a:solidFill>
                  <a:srgbClr val="B7BDCC"/>
                </a:solidFill>
                <a:latin typeface="Calibri" pitchFamily="34" charset="0"/>
                <a:ea typeface="Calibri" pitchFamily="34" charset="-122"/>
                <a:cs typeface="Calibri" pitchFamily="34" charset="-120"/>
              </a:rPr>
              <a:t>A slow, gradual departure from the truth — each single reading looks almost fine.</a:t>
            </a:r>
            <a:endParaRPr lang="en-US" sz="1250" dirty="0"/>
          </a:p>
        </p:txBody>
      </p:sp>
      <p:sp>
        <p:nvSpPr>
          <p:cNvPr id="14" name="Text 11"/>
          <p:cNvSpPr/>
          <p:nvPr/>
        </p:nvSpPr>
        <p:spPr>
          <a:xfrm>
            <a:off x="6355080" y="2880360"/>
            <a:ext cx="5029200" cy="2286000"/>
          </a:xfrm>
          <a:prstGeom prst="rect">
            <a:avLst/>
          </a:prstGeom>
          <a:noFill/>
          <a:ln/>
        </p:spPr>
        <p:txBody>
          <a:bodyPr wrap="square" rtlCol="0" anchor="ctr"/>
          <a:lstStyle/>
          <a:p>
            <a:pPr marL="0" indent="0">
              <a:buNone/>
            </a:pPr>
            <a:r>
              <a:rPr lang="en-US" sz="1250" dirty="0">
                <a:solidFill>
                  <a:srgbClr val="B7BDCC"/>
                </a:solidFill>
                <a:latin typeface="Calibri" pitchFamily="34" charset="0"/>
                <a:ea typeface="Calibri" pitchFamily="34" charset="-122"/>
                <a:cs typeface="Calibri" pitchFamily="34" charset="-120"/>
              </a:rPr>
              <a:t>The Chi-square test alone catches this too late — only once the error has already grown large. A variance-based check across redundant sensors is used instead, progressively rejecting whichever sensor contributes most to rising disagreement.</a:t>
            </a:r>
            <a:endParaRPr lang="en-US" sz="1250" dirty="0"/>
          </a:p>
        </p:txBody>
      </p:sp>
      <p:sp>
        <p:nvSpPr>
          <p:cNvPr id="15" name="Text 12"/>
          <p:cNvSpPr/>
          <p:nvPr/>
        </p:nvSpPr>
        <p:spPr>
          <a:xfrm>
            <a:off x="548640" y="5623560"/>
            <a:ext cx="11064240" cy="365760"/>
          </a:xfrm>
          <a:prstGeom prst="rect">
            <a:avLst/>
          </a:prstGeom>
          <a:noFill/>
          <a:ln/>
        </p:spPr>
        <p:txBody>
          <a:bodyPr wrap="square" rtlCol="0" anchor="ctr"/>
          <a:lstStyle/>
          <a:p>
            <a:pPr marL="0" indent="0">
              <a:buNone/>
            </a:pPr>
            <a:r>
              <a:rPr lang="en-US" sz="1300" b="1" dirty="0">
                <a:solidFill>
                  <a:srgbClr val="E63946"/>
                </a:solidFill>
                <a:latin typeface="Calibri" pitchFamily="34" charset="0"/>
                <a:ea typeface="Calibri" pitchFamily="34" charset="-122"/>
                <a:cs typeface="Calibri" pitchFamily="34" charset="-120"/>
              </a:rPr>
              <a:t>Both detectors run alongside each other — neither alone is sufficient.</a:t>
            </a:r>
            <a:endParaRPr lang="en-US" sz="1300" dirty="0"/>
          </a:p>
        </p:txBody>
      </p:sp>
      <p:sp>
        <p:nvSpPr>
          <p:cNvPr id="17" name="Text 14"/>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A91A6"/>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63946"/>
          </a:solidFill>
          <a:ln/>
        </p:spPr>
      </p:sp>
      <p:pic>
        <p:nvPicPr>
          <p:cNvPr id="3" name="Image 0" descr="/home/claude/amz_deck/icons/map.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p:nvPr/>
        </p:nvSpPr>
        <p:spPr>
          <a:xfrm>
            <a:off x="1325880" y="438912"/>
            <a:ext cx="10314432" cy="27432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SLAM &amp; MAPPING</a:t>
            </a:r>
            <a:endParaRPr lang="en-US" sz="1200" dirty="0"/>
          </a:p>
        </p:txBody>
      </p:sp>
      <p:sp>
        <p:nvSpPr>
          <p:cNvPr id="5" name="Text 2"/>
          <p:cNvSpPr/>
          <p:nvPr/>
        </p:nvSpPr>
        <p:spPr>
          <a:xfrm>
            <a:off x="1325880" y="658368"/>
            <a:ext cx="10314432"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Why the Car Needs SLAM at All</a:t>
            </a:r>
            <a:endParaRPr lang="en-US" sz="3000" dirty="0"/>
          </a:p>
        </p:txBody>
      </p:sp>
      <p:sp>
        <p:nvSpPr>
          <p:cNvPr id="6" name="Shape 3"/>
          <p:cNvSpPr/>
          <p:nvPr/>
        </p:nvSpPr>
        <p:spPr>
          <a:xfrm>
            <a:off x="548640" y="1234440"/>
            <a:ext cx="11091672" cy="0"/>
          </a:xfrm>
          <a:prstGeom prst="line">
            <a:avLst/>
          </a:prstGeom>
          <a:noFill/>
          <a:ln w="12700">
            <a:solidFill>
              <a:srgbClr val="2A3245"/>
            </a:solidFill>
            <a:prstDash val="solid"/>
          </a:ln>
        </p:spPr>
      </p:sp>
      <p:sp>
        <p:nvSpPr>
          <p:cNvPr id="7" name="Text 4"/>
          <p:cNvSpPr/>
          <p:nvPr/>
        </p:nvSpPr>
        <p:spPr>
          <a:xfrm>
            <a:off x="548640" y="1554480"/>
            <a:ext cx="6126480" cy="3108960"/>
          </a:xfrm>
          <a:prstGeom prst="rect">
            <a:avLst/>
          </a:prstGeom>
          <a:noFill/>
          <a:ln/>
        </p:spPr>
        <p:txBody>
          <a:bodyPr wrap="square" lIns="0" tIns="0" rIns="0" bIns="0" rtlCol="0" anchor="t"/>
          <a:lstStyle/>
          <a:p>
            <a:pPr marL="228600" indent="-228600">
              <a:lnSpc>
                <a:spcPts val="1958"/>
              </a:lnSpc>
              <a:spcAft>
                <a:spcPts val="1600"/>
              </a:spcAft>
              <a:buSzPct val="100000"/>
              <a:buChar char="▪"/>
            </a:pPr>
            <a:r>
              <a:rPr lang="en-US" sz="1450" dirty="0">
                <a:solidFill>
                  <a:srgbClr val="B7BDCC"/>
                </a:solidFill>
                <a:latin typeface="Calibri" pitchFamily="34" charset="0"/>
                <a:ea typeface="Calibri" pitchFamily="34" charset="-122"/>
                <a:cs typeface="Calibri" pitchFamily="34" charset="-120"/>
              </a:rPr>
              <a:t>The track is unknown at the start — there is no pre-existing map to localize against.</a:t>
            </a:r>
            <a:endParaRPr lang="en-US" sz="1450" dirty="0"/>
          </a:p>
          <a:p>
            <a:pPr marL="228600" indent="-228600">
              <a:lnSpc>
                <a:spcPts val="1958"/>
              </a:lnSpc>
              <a:spcAft>
                <a:spcPts val="1600"/>
              </a:spcAft>
              <a:buSzPct val="100000"/>
              <a:buChar char="▪"/>
            </a:pPr>
            <a:r>
              <a:rPr lang="en-US" sz="1450" dirty="0">
                <a:solidFill>
                  <a:srgbClr val="B7BDCC"/>
                </a:solidFill>
                <a:latin typeface="Calibri" pitchFamily="34" charset="0"/>
                <a:ea typeface="Calibri" pitchFamily="34" charset="-122"/>
                <a:cs typeface="Calibri" pitchFamily="34" charset="-120"/>
              </a:rPr>
              <a:t>But the car needs to “see” roughly 2 seconds ahead (~40 m at race speed) — well beyond what its raw sensor field of view provides in a single instant.</a:t>
            </a:r>
            <a:endParaRPr lang="en-US" sz="1450" dirty="0"/>
          </a:p>
          <a:p>
            <a:pPr marL="228600" indent="-228600">
              <a:lnSpc>
                <a:spcPts val="1958"/>
              </a:lnSpc>
              <a:spcAft>
                <a:spcPts val="1600"/>
              </a:spcAft>
              <a:buSzPct val="100000"/>
              <a:buChar char="▪"/>
            </a:pPr>
            <a:r>
              <a:rPr lang="en-US" sz="1450" dirty="0">
                <a:solidFill>
                  <a:srgbClr val="B7BDCC"/>
                </a:solidFill>
                <a:latin typeface="Calibri" pitchFamily="34" charset="0"/>
                <a:ea typeface="Calibri" pitchFamily="34" charset="-122"/>
                <a:cs typeface="Calibri" pitchFamily="34" charset="-120"/>
              </a:rPr>
              <a:t>SLAM solves this: build the map of cones and localize the car within that same growing map, simultaneously.</a:t>
            </a:r>
            <a:endParaRPr lang="en-US" sz="1450" dirty="0"/>
          </a:p>
        </p:txBody>
      </p:sp>
      <p:sp>
        <p:nvSpPr>
          <p:cNvPr id="8" name="Shape 5"/>
          <p:cNvSpPr/>
          <p:nvPr/>
        </p:nvSpPr>
        <p:spPr>
          <a:xfrm>
            <a:off x="6949440" y="1554480"/>
            <a:ext cx="4663440" cy="3931920"/>
          </a:xfrm>
          <a:prstGeom prst="roundRect">
            <a:avLst>
              <a:gd name="adj" fmla="val 1860"/>
            </a:avLst>
          </a:prstGeom>
          <a:solidFill>
            <a:srgbClr val="241717"/>
          </a:solidFill>
          <a:ln/>
        </p:spPr>
      </p:sp>
      <p:sp>
        <p:nvSpPr>
          <p:cNvPr id="9" name="Shape 6"/>
          <p:cNvSpPr/>
          <p:nvPr/>
        </p:nvSpPr>
        <p:spPr>
          <a:xfrm>
            <a:off x="7178040" y="1783080"/>
            <a:ext cx="502920" cy="502920"/>
          </a:xfrm>
          <a:prstGeom prst="ellipse">
            <a:avLst/>
          </a:prstGeom>
          <a:solidFill>
            <a:srgbClr val="E63946"/>
          </a:solidFill>
          <a:ln/>
        </p:spPr>
      </p:sp>
      <p:pic>
        <p:nvPicPr>
          <p:cNvPr id="10" name="Image 1" descr="/home/claude/amz_deck/icons/eye.png"/>
          <p:cNvPicPr>
            <a:picLocks noChangeAspect="1"/>
          </p:cNvPicPr>
          <p:nvPr/>
        </p:nvPicPr>
        <p:blipFill>
          <a:blip r:embed="rId4"/>
          <a:stretch>
            <a:fillRect/>
          </a:stretch>
        </p:blipFill>
        <p:spPr>
          <a:xfrm>
            <a:off x="7298741" y="1903781"/>
            <a:ext cx="261518" cy="261518"/>
          </a:xfrm>
          <a:prstGeom prst="rect">
            <a:avLst/>
          </a:prstGeom>
        </p:spPr>
      </p:pic>
      <p:sp>
        <p:nvSpPr>
          <p:cNvPr id="11" name="Text 7"/>
          <p:cNvSpPr/>
          <p:nvPr/>
        </p:nvSpPr>
        <p:spPr>
          <a:xfrm>
            <a:off x="7863840" y="1737360"/>
            <a:ext cx="3657600" cy="548640"/>
          </a:xfrm>
          <a:prstGeom prst="rect">
            <a:avLst/>
          </a:prstGeom>
          <a:noFill/>
          <a:ln/>
        </p:spPr>
        <p:txBody>
          <a:bodyPr wrap="square" rtlCol="0" anchor="ctr"/>
          <a:lstStyle/>
          <a:p>
            <a:pPr marL="0" indent="0">
              <a:buNone/>
            </a:pPr>
            <a:r>
              <a:rPr lang="en-US" sz="1400" b="1" dirty="0">
                <a:solidFill>
                  <a:srgbClr val="E63946"/>
                </a:solidFill>
                <a:latin typeface="Calibri" pitchFamily="34" charset="0"/>
                <a:ea typeface="Calibri" pitchFamily="34" charset="-122"/>
                <a:cs typeface="Calibri" pitchFamily="34" charset="-120"/>
              </a:rPr>
              <a:t>The Data Association Problem</a:t>
            </a:r>
            <a:endParaRPr lang="en-US" sz="1400" dirty="0"/>
          </a:p>
        </p:txBody>
      </p:sp>
      <p:sp>
        <p:nvSpPr>
          <p:cNvPr id="12" name="Text 8"/>
          <p:cNvSpPr/>
          <p:nvPr/>
        </p:nvSpPr>
        <p:spPr>
          <a:xfrm>
            <a:off x="7178040" y="2514600"/>
            <a:ext cx="4206240" cy="2743200"/>
          </a:xfrm>
          <a:prstGeom prst="rect">
            <a:avLst/>
          </a:prstGeom>
          <a:noFill/>
          <a:ln/>
        </p:spPr>
        <p:txBody>
          <a:bodyPr wrap="square" rtlCol="0" anchor="ctr"/>
          <a:lstStyle/>
          <a:p>
            <a:pPr marL="0" indent="0">
              <a:buNone/>
            </a:pPr>
            <a:r>
              <a:rPr lang="en-US" sz="1250" dirty="0">
                <a:solidFill>
                  <a:srgbClr val="B7BDCC"/>
                </a:solidFill>
                <a:latin typeface="Calibri" pitchFamily="34" charset="0"/>
                <a:ea typeface="Calibri" pitchFamily="34" charset="-122"/>
                <a:cs typeface="Calibri" pitchFamily="34" charset="-120"/>
              </a:rPr>
              <a:t>Cones aren't individually distinguishable — they only carry a position and a color, and many cones share that same color. So every time a cone is (re)observed, the system must decide which existing map landmark it corresponds to — or whether it's new — under real ambiguity. This uncertain matching is the core challenge SLAM has to handle here.</a:t>
            </a:r>
            <a:endParaRPr lang="en-US" sz="1250" dirty="0"/>
          </a:p>
        </p:txBody>
      </p:sp>
      <p:sp>
        <p:nvSpPr>
          <p:cNvPr id="14" name="Text 10"/>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A91A6"/>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63946"/>
          </a:solidFill>
          <a:ln/>
        </p:spPr>
      </p:sp>
      <p:pic>
        <p:nvPicPr>
          <p:cNvPr id="3" name="Image 0" descr="/home/claude/amz_deck/icons/sync.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p:nvPr/>
        </p:nvSpPr>
        <p:spPr>
          <a:xfrm>
            <a:off x="1325880" y="438912"/>
            <a:ext cx="10314432" cy="27432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SLAM &amp; MAPPING</a:t>
            </a:r>
            <a:endParaRPr lang="en-US" sz="1200" dirty="0"/>
          </a:p>
        </p:txBody>
      </p:sp>
      <p:sp>
        <p:nvSpPr>
          <p:cNvPr id="5" name="Text 2"/>
          <p:cNvSpPr/>
          <p:nvPr/>
        </p:nvSpPr>
        <p:spPr>
          <a:xfrm>
            <a:off x="1325880" y="658368"/>
            <a:ext cx="10314432"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FastSLAM 2.0 and Lap Closure</a:t>
            </a:r>
            <a:endParaRPr lang="en-US" sz="3000" dirty="0"/>
          </a:p>
        </p:txBody>
      </p:sp>
      <p:sp>
        <p:nvSpPr>
          <p:cNvPr id="6" name="Shape 3"/>
          <p:cNvSpPr/>
          <p:nvPr/>
        </p:nvSpPr>
        <p:spPr>
          <a:xfrm>
            <a:off x="548640" y="1234440"/>
            <a:ext cx="11091672" cy="0"/>
          </a:xfrm>
          <a:prstGeom prst="line">
            <a:avLst/>
          </a:prstGeom>
          <a:noFill/>
          <a:ln w="12700">
            <a:solidFill>
              <a:srgbClr val="2A3245"/>
            </a:solidFill>
            <a:prstDash val="solid"/>
          </a:ln>
        </p:spPr>
      </p:sp>
      <p:sp>
        <p:nvSpPr>
          <p:cNvPr id="7" name="Shape 4"/>
          <p:cNvSpPr/>
          <p:nvPr/>
        </p:nvSpPr>
        <p:spPr>
          <a:xfrm>
            <a:off x="548640" y="1554480"/>
            <a:ext cx="5349240" cy="3931920"/>
          </a:xfrm>
          <a:prstGeom prst="roundRect">
            <a:avLst>
              <a:gd name="adj" fmla="val 1860"/>
            </a:avLst>
          </a:prstGeom>
          <a:solidFill>
            <a:srgbClr val="141924"/>
          </a:solidFill>
          <a:ln/>
        </p:spPr>
      </p:sp>
      <p:sp>
        <p:nvSpPr>
          <p:cNvPr id="8" name="Text 5"/>
          <p:cNvSpPr/>
          <p:nvPr/>
        </p:nvSpPr>
        <p:spPr>
          <a:xfrm>
            <a:off x="822960" y="1737360"/>
            <a:ext cx="4846320" cy="320040"/>
          </a:xfrm>
          <a:prstGeom prst="rect">
            <a:avLst/>
          </a:prstGeom>
          <a:noFill/>
          <a:ln/>
        </p:spPr>
        <p:txBody>
          <a:bodyPr wrap="square" rtlCol="0" anchor="ctr"/>
          <a:lstStyle/>
          <a:p>
            <a:pPr marL="0" indent="0">
              <a:buNone/>
            </a:pPr>
            <a:r>
              <a:rPr lang="en-US" sz="1400" b="1" dirty="0">
                <a:solidFill>
                  <a:srgbClr val="E63946"/>
                </a:solidFill>
                <a:latin typeface="Calibri" pitchFamily="34" charset="0"/>
                <a:ea typeface="Calibri" pitchFamily="34" charset="-122"/>
                <a:cs typeface="Calibri" pitchFamily="34" charset="-120"/>
              </a:rPr>
              <a:t>FastSLAM 2.0</a:t>
            </a:r>
            <a:endParaRPr lang="en-US" sz="1400" dirty="0"/>
          </a:p>
        </p:txBody>
      </p:sp>
      <p:sp>
        <p:nvSpPr>
          <p:cNvPr id="9" name="Text 6"/>
          <p:cNvSpPr/>
          <p:nvPr/>
        </p:nvSpPr>
        <p:spPr>
          <a:xfrm>
            <a:off x="822960" y="2103120"/>
            <a:ext cx="4846320" cy="3200400"/>
          </a:xfrm>
          <a:prstGeom prst="rect">
            <a:avLst/>
          </a:prstGeom>
          <a:noFill/>
          <a:ln/>
        </p:spPr>
        <p:txBody>
          <a:bodyPr wrap="square" lIns="0" tIns="0" rIns="0" bIns="0" rtlCol="0" anchor="t"/>
          <a:lstStyle/>
          <a:p>
            <a:pPr marL="228600" indent="-228600">
              <a:lnSpc>
                <a:spcPts val="1620"/>
              </a:lnSpc>
              <a:spcAft>
                <a:spcPts val="1000"/>
              </a:spcAft>
              <a:buSzPct val="100000"/>
              <a:buChar char="▪"/>
            </a:pPr>
            <a:r>
              <a:rPr lang="en-US" sz="1200" dirty="0">
                <a:solidFill>
                  <a:srgbClr val="B7BDCC"/>
                </a:solidFill>
                <a:latin typeface="Calibri" pitchFamily="34" charset="0"/>
                <a:ea typeface="Calibri" pitchFamily="34" charset="-122"/>
                <a:cs typeface="Calibri" pitchFamily="34" charset="-120"/>
              </a:rPr>
              <a:t>A particle-filter based SLAM algorithm — each particle carries its own full hypothesis of the car's pose and the map.</a:t>
            </a:r>
            <a:endParaRPr lang="en-US" sz="1200" dirty="0"/>
          </a:p>
          <a:p>
            <a:pPr marL="228600" indent="-228600">
              <a:lnSpc>
                <a:spcPts val="1620"/>
              </a:lnSpc>
              <a:spcAft>
                <a:spcPts val="1000"/>
              </a:spcAft>
              <a:buSzPct val="100000"/>
              <a:buChar char="▪"/>
            </a:pPr>
            <a:r>
              <a:rPr lang="en-US" sz="1200" dirty="0">
                <a:solidFill>
                  <a:srgbClr val="B7BDCC"/>
                </a:solidFill>
                <a:latin typeface="Calibri" pitchFamily="34" charset="0"/>
                <a:ea typeface="Calibri" pitchFamily="34" charset="-122"/>
                <a:cs typeface="Calibri" pitchFamily="34" charset="-120"/>
              </a:rPr>
              <a:t>This naturally handles multiple competing data-association guesses at once, instead of committing to one.</a:t>
            </a:r>
            <a:endParaRPr lang="en-US" sz="1200" dirty="0"/>
          </a:p>
          <a:p>
            <a:pPr marL="228600" indent="-228600">
              <a:lnSpc>
                <a:spcPts val="1620"/>
              </a:lnSpc>
              <a:spcAft>
                <a:spcPts val="1000"/>
              </a:spcAft>
              <a:buSzPct val="100000"/>
              <a:buChar char="▪"/>
            </a:pPr>
            <a:r>
              <a:rPr lang="en-US" sz="1200" dirty="0">
                <a:solidFill>
                  <a:srgbClr val="B7BDCC"/>
                </a:solidFill>
                <a:latin typeface="Calibri" pitchFamily="34" charset="0"/>
                <a:ea typeface="Calibri" pitchFamily="34" charset="-122"/>
                <a:cs typeface="Calibri" pitchFamily="34" charset="-120"/>
              </a:rPr>
              <a:t>Scales linearly with the number of landmarks, versus the quadratic cost of EKF-SLAM — a major performance advantage for a track full of cones.</a:t>
            </a:r>
            <a:endParaRPr lang="en-US" sz="1200" dirty="0"/>
          </a:p>
        </p:txBody>
      </p:sp>
      <p:sp>
        <p:nvSpPr>
          <p:cNvPr id="10" name="Shape 7"/>
          <p:cNvSpPr/>
          <p:nvPr/>
        </p:nvSpPr>
        <p:spPr>
          <a:xfrm>
            <a:off x="6080760" y="1554480"/>
            <a:ext cx="5532120" cy="3931920"/>
          </a:xfrm>
          <a:prstGeom prst="roundRect">
            <a:avLst>
              <a:gd name="adj" fmla="val 1860"/>
            </a:avLst>
          </a:prstGeom>
          <a:solidFill>
            <a:srgbClr val="141924"/>
          </a:solidFill>
          <a:ln/>
        </p:spPr>
      </p:sp>
      <p:sp>
        <p:nvSpPr>
          <p:cNvPr id="11" name="Text 8"/>
          <p:cNvSpPr/>
          <p:nvPr/>
        </p:nvSpPr>
        <p:spPr>
          <a:xfrm>
            <a:off x="6355080" y="1737360"/>
            <a:ext cx="5029200" cy="320040"/>
          </a:xfrm>
          <a:prstGeom prst="rect">
            <a:avLst/>
          </a:prstGeom>
          <a:noFill/>
          <a:ln/>
        </p:spPr>
        <p:txBody>
          <a:bodyPr wrap="square" rtlCol="0" anchor="ctr"/>
          <a:lstStyle/>
          <a:p>
            <a:pPr marL="0" indent="0">
              <a:buNone/>
            </a:pPr>
            <a:r>
              <a:rPr lang="en-US" sz="1400" b="1" dirty="0">
                <a:solidFill>
                  <a:srgbClr val="E63946"/>
                </a:solidFill>
                <a:latin typeface="Calibri" pitchFamily="34" charset="0"/>
                <a:ea typeface="Calibri" pitchFamily="34" charset="-122"/>
                <a:cs typeface="Calibri" pitchFamily="34" charset="-120"/>
              </a:rPr>
              <a:t>Lap Closure</a:t>
            </a:r>
            <a:endParaRPr lang="en-US" sz="1400" dirty="0"/>
          </a:p>
        </p:txBody>
      </p:sp>
      <p:sp>
        <p:nvSpPr>
          <p:cNvPr id="12" name="Text 9"/>
          <p:cNvSpPr/>
          <p:nvPr/>
        </p:nvSpPr>
        <p:spPr>
          <a:xfrm>
            <a:off x="6355080" y="2103120"/>
            <a:ext cx="5029200" cy="3200400"/>
          </a:xfrm>
          <a:prstGeom prst="rect">
            <a:avLst/>
          </a:prstGeom>
          <a:noFill/>
          <a:ln/>
        </p:spPr>
        <p:txBody>
          <a:bodyPr wrap="square" lIns="0" tIns="0" rIns="0" bIns="0" rtlCol="0" anchor="t"/>
          <a:lstStyle/>
          <a:p>
            <a:pPr marL="228600" indent="-228600">
              <a:lnSpc>
                <a:spcPts val="1620"/>
              </a:lnSpc>
              <a:spcAft>
                <a:spcPts val="1000"/>
              </a:spcAft>
              <a:buSzPct val="100000"/>
              <a:buChar char="▪"/>
            </a:pPr>
            <a:r>
              <a:rPr lang="en-US" sz="1200" dirty="0">
                <a:solidFill>
                  <a:srgbClr val="B7BDCC"/>
                </a:solidFill>
                <a:latin typeface="Calibri" pitchFamily="34" charset="0"/>
                <a:ea typeface="Calibri" pitchFamily="34" charset="-122"/>
                <a:cs typeface="Calibri" pitchFamily="34" charset="-120"/>
              </a:rPr>
              <a:t>Detected once three conditions hold: particle spread is low, current heading matches the start, and particles cluster near the starting point.</a:t>
            </a:r>
            <a:endParaRPr lang="en-US" sz="1200" dirty="0"/>
          </a:p>
          <a:p>
            <a:pPr marL="228600" indent="-228600">
              <a:lnSpc>
                <a:spcPts val="1620"/>
              </a:lnSpc>
              <a:spcAft>
                <a:spcPts val="1000"/>
              </a:spcAft>
              <a:buSzPct val="100000"/>
              <a:buChar char="▪"/>
            </a:pPr>
            <a:r>
              <a:rPr lang="en-US" sz="1200" dirty="0">
                <a:solidFill>
                  <a:srgbClr val="B7BDCC"/>
                </a:solidFill>
                <a:latin typeface="Calibri" pitchFamily="34" charset="0"/>
                <a:ea typeface="Calibri" pitchFamily="34" charset="-122"/>
                <a:cs typeface="Calibri" pitchFamily="34" charset="-120"/>
              </a:rPr>
              <a:t>Once detected, the system switches from SLAM mode to Localization mode — the map is frozen (taken from the highest-weight particle) and stops updating.</a:t>
            </a:r>
            <a:endParaRPr lang="en-US" sz="1200" dirty="0"/>
          </a:p>
          <a:p>
            <a:pPr marL="228600" indent="-228600">
              <a:lnSpc>
                <a:spcPts val="1620"/>
              </a:lnSpc>
              <a:spcAft>
                <a:spcPts val="1000"/>
              </a:spcAft>
              <a:buSzPct val="100000"/>
              <a:buChar char="▪"/>
            </a:pPr>
            <a:r>
              <a:rPr lang="en-US" sz="1200" dirty="0">
                <a:solidFill>
                  <a:srgbClr val="B7BDCC"/>
                </a:solidFill>
                <a:latin typeface="Calibri" pitchFamily="34" charset="0"/>
                <a:ea typeface="Calibri" pitchFamily="34" charset="-122"/>
                <a:cs typeface="Calibri" pitchFamily="34" charset="-120"/>
              </a:rPr>
              <a:t>From then on, Monte Carlo Localization is used to localize within that fixed map for the remaining, fast laps.</a:t>
            </a:r>
            <a:endParaRPr lang="en-US" sz="1200" dirty="0"/>
          </a:p>
        </p:txBody>
      </p:sp>
      <p:sp>
        <p:nvSpPr>
          <p:cNvPr id="14" name="Text 11"/>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A91A6"/>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63946"/>
          </a:solidFill>
          <a:ln/>
        </p:spPr>
      </p:sp>
      <p:pic>
        <p:nvPicPr>
          <p:cNvPr id="3" name="Image 0" descr="/home/claude/amz_deck/icons/polygon.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p:nvPr/>
        </p:nvSpPr>
        <p:spPr>
          <a:xfrm>
            <a:off x="1325880" y="438912"/>
            <a:ext cx="10314432" cy="27432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PLANNING</a:t>
            </a:r>
            <a:endParaRPr lang="en-US" sz="1200" dirty="0"/>
          </a:p>
        </p:txBody>
      </p:sp>
      <p:sp>
        <p:nvSpPr>
          <p:cNvPr id="5" name="Text 2"/>
          <p:cNvSpPr/>
          <p:nvPr/>
        </p:nvSpPr>
        <p:spPr>
          <a:xfrm>
            <a:off x="1325880" y="658368"/>
            <a:ext cx="10314432"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Turning Cones into Candidate Paths</a:t>
            </a:r>
            <a:endParaRPr lang="en-US" sz="3000" dirty="0"/>
          </a:p>
        </p:txBody>
      </p:sp>
      <p:sp>
        <p:nvSpPr>
          <p:cNvPr id="6" name="Shape 3"/>
          <p:cNvSpPr/>
          <p:nvPr/>
        </p:nvSpPr>
        <p:spPr>
          <a:xfrm>
            <a:off x="548640" y="1234440"/>
            <a:ext cx="11091672" cy="0"/>
          </a:xfrm>
          <a:prstGeom prst="line">
            <a:avLst/>
          </a:prstGeom>
          <a:noFill/>
          <a:ln w="12700">
            <a:solidFill>
              <a:srgbClr val="2A3245"/>
            </a:solidFill>
            <a:prstDash val="solid"/>
          </a:ln>
        </p:spPr>
      </p:sp>
      <p:sp>
        <p:nvSpPr>
          <p:cNvPr id="7" name="Shape 4"/>
          <p:cNvSpPr/>
          <p:nvPr/>
        </p:nvSpPr>
        <p:spPr>
          <a:xfrm>
            <a:off x="548640" y="1600200"/>
            <a:ext cx="3291840" cy="1097280"/>
          </a:xfrm>
          <a:prstGeom prst="roundRect">
            <a:avLst>
              <a:gd name="adj" fmla="val 7500"/>
            </a:avLst>
          </a:prstGeom>
          <a:solidFill>
            <a:srgbClr val="1B2233"/>
          </a:solidFill>
          <a:ln/>
        </p:spPr>
      </p:sp>
      <p:sp>
        <p:nvSpPr>
          <p:cNvPr id="8" name="Text 5"/>
          <p:cNvSpPr/>
          <p:nvPr/>
        </p:nvSpPr>
        <p:spPr>
          <a:xfrm>
            <a:off x="621792" y="1691640"/>
            <a:ext cx="3145536"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1. TRIANGULATE</a:t>
            </a:r>
            <a:endParaRPr lang="en-US" sz="1250" dirty="0"/>
          </a:p>
        </p:txBody>
      </p:sp>
      <p:sp>
        <p:nvSpPr>
          <p:cNvPr id="9" name="Text 6"/>
          <p:cNvSpPr/>
          <p:nvPr/>
        </p:nvSpPr>
        <p:spPr>
          <a:xfrm>
            <a:off x="621792" y="2020824"/>
            <a:ext cx="3145536" cy="585216"/>
          </a:xfrm>
          <a:prstGeom prst="rect">
            <a:avLst/>
          </a:prstGeom>
          <a:noFill/>
          <a:ln/>
        </p:spPr>
        <p:txBody>
          <a:bodyPr wrap="square" lIns="0" tIns="0" rIns="0" bIns="0" rtlCol="0" anchor="t"/>
          <a:lstStyle/>
          <a:p>
            <a:pPr marL="0" indent="0" algn="ctr">
              <a:lnSpc>
                <a:spcPts val="1200"/>
              </a:lnSpc>
              <a:buNone/>
            </a:pPr>
            <a:r>
              <a:rPr lang="en-US" sz="900" dirty="0">
                <a:solidFill>
                  <a:srgbClr val="8A91A6"/>
                </a:solidFill>
                <a:latin typeface="Calibri" pitchFamily="34" charset="0"/>
                <a:ea typeface="Calibri" pitchFamily="34" charset="-122"/>
                <a:cs typeface="Calibri" pitchFamily="34" charset="-120"/>
              </a:rPr>
              <a:t>Delaunay triangulation over</a:t>
            </a:r>
            <a:endParaRPr lang="en-US" sz="900" dirty="0"/>
          </a:p>
          <a:p>
            <a:pPr marL="0" indent="0" algn="ctr">
              <a:lnSpc>
                <a:spcPts val="1200"/>
              </a:lnSpc>
              <a:buNone/>
            </a:pPr>
            <a:r>
              <a:rPr lang="en-US" sz="900" dirty="0">
                <a:solidFill>
                  <a:srgbClr val="8A91A6"/>
                </a:solidFill>
                <a:latin typeface="Calibri" pitchFamily="34" charset="0"/>
                <a:ea typeface="Calibri" pitchFamily="34" charset="-122"/>
                <a:cs typeface="Calibri" pitchFamily="34" charset="-120"/>
              </a:rPr>
              <a:t>observed cone positions</a:t>
            </a:r>
            <a:endParaRPr lang="en-US" sz="900" dirty="0"/>
          </a:p>
        </p:txBody>
      </p:sp>
      <p:sp>
        <p:nvSpPr>
          <p:cNvPr id="10" name="Shape 7"/>
          <p:cNvSpPr/>
          <p:nvPr/>
        </p:nvSpPr>
        <p:spPr>
          <a:xfrm>
            <a:off x="3867912" y="2066544"/>
            <a:ext cx="274320" cy="164592"/>
          </a:xfrm>
          <a:prstGeom prst="rightArrow">
            <a:avLst/>
          </a:prstGeom>
          <a:solidFill>
            <a:srgbClr val="E63946"/>
          </a:solidFill>
          <a:ln/>
        </p:spPr>
      </p:sp>
      <p:sp>
        <p:nvSpPr>
          <p:cNvPr id="11" name="Shape 8"/>
          <p:cNvSpPr/>
          <p:nvPr/>
        </p:nvSpPr>
        <p:spPr>
          <a:xfrm>
            <a:off x="4160520" y="1600200"/>
            <a:ext cx="3291840" cy="1097280"/>
          </a:xfrm>
          <a:prstGeom prst="roundRect">
            <a:avLst>
              <a:gd name="adj" fmla="val 7500"/>
            </a:avLst>
          </a:prstGeom>
          <a:solidFill>
            <a:srgbClr val="1B2233"/>
          </a:solidFill>
          <a:ln/>
        </p:spPr>
      </p:sp>
      <p:sp>
        <p:nvSpPr>
          <p:cNvPr id="12" name="Text 9"/>
          <p:cNvSpPr/>
          <p:nvPr/>
        </p:nvSpPr>
        <p:spPr>
          <a:xfrm>
            <a:off x="4233672" y="1691640"/>
            <a:ext cx="3145536"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2. GROW PATH TREE</a:t>
            </a:r>
            <a:endParaRPr lang="en-US" sz="1250" dirty="0"/>
          </a:p>
        </p:txBody>
      </p:sp>
      <p:sp>
        <p:nvSpPr>
          <p:cNvPr id="13" name="Text 10"/>
          <p:cNvSpPr/>
          <p:nvPr/>
        </p:nvSpPr>
        <p:spPr>
          <a:xfrm>
            <a:off x="4233672" y="2020824"/>
            <a:ext cx="3145536" cy="585216"/>
          </a:xfrm>
          <a:prstGeom prst="rect">
            <a:avLst/>
          </a:prstGeom>
          <a:noFill/>
          <a:ln/>
        </p:spPr>
        <p:txBody>
          <a:bodyPr wrap="square" lIns="0" tIns="0" rIns="0" bIns="0" rtlCol="0" anchor="t"/>
          <a:lstStyle/>
          <a:p>
            <a:pPr marL="0" indent="0" algn="ctr">
              <a:lnSpc>
                <a:spcPts val="1200"/>
              </a:lnSpc>
              <a:buNone/>
            </a:pPr>
            <a:r>
              <a:rPr lang="en-US" sz="900" dirty="0">
                <a:solidFill>
                  <a:srgbClr val="8A91A6"/>
                </a:solidFill>
                <a:latin typeface="Calibri" pitchFamily="34" charset="0"/>
                <a:ea typeface="Calibri" pitchFamily="34" charset="-122"/>
                <a:cs typeface="Calibri" pitchFamily="34" charset="-120"/>
              </a:rPr>
              <a:t>Connect midpoints of triangle</a:t>
            </a:r>
            <a:endParaRPr lang="en-US" sz="900" dirty="0"/>
          </a:p>
          <a:p>
            <a:pPr marL="0" indent="0" algn="ctr">
              <a:lnSpc>
                <a:spcPts val="1200"/>
              </a:lnSpc>
              <a:buNone/>
            </a:pPr>
            <a:r>
              <a:rPr lang="en-US" sz="900" dirty="0">
                <a:solidFill>
                  <a:srgbClr val="8A91A6"/>
                </a:solidFill>
                <a:latin typeface="Calibri" pitchFamily="34" charset="0"/>
                <a:ea typeface="Calibri" pitchFamily="34" charset="-122"/>
                <a:cs typeface="Calibri" pitchFamily="34" charset="-120"/>
              </a:rPr>
              <a:t>edges, breadth-first</a:t>
            </a:r>
            <a:endParaRPr lang="en-US" sz="900" dirty="0"/>
          </a:p>
        </p:txBody>
      </p:sp>
      <p:sp>
        <p:nvSpPr>
          <p:cNvPr id="14" name="Shape 11"/>
          <p:cNvSpPr/>
          <p:nvPr/>
        </p:nvSpPr>
        <p:spPr>
          <a:xfrm>
            <a:off x="7479792" y="2066544"/>
            <a:ext cx="274320" cy="164592"/>
          </a:xfrm>
          <a:prstGeom prst="rightArrow">
            <a:avLst/>
          </a:prstGeom>
          <a:solidFill>
            <a:srgbClr val="E63946"/>
          </a:solidFill>
          <a:ln/>
        </p:spPr>
      </p:sp>
      <p:sp>
        <p:nvSpPr>
          <p:cNvPr id="15" name="Shape 12"/>
          <p:cNvSpPr/>
          <p:nvPr/>
        </p:nvSpPr>
        <p:spPr>
          <a:xfrm>
            <a:off x="7772400" y="1600200"/>
            <a:ext cx="3291840" cy="1097280"/>
          </a:xfrm>
          <a:prstGeom prst="roundRect">
            <a:avLst>
              <a:gd name="adj" fmla="val 7500"/>
            </a:avLst>
          </a:prstGeom>
          <a:solidFill>
            <a:srgbClr val="1B2233"/>
          </a:solidFill>
          <a:ln/>
        </p:spPr>
      </p:sp>
      <p:sp>
        <p:nvSpPr>
          <p:cNvPr id="16" name="Text 13"/>
          <p:cNvSpPr/>
          <p:nvPr/>
        </p:nvSpPr>
        <p:spPr>
          <a:xfrm>
            <a:off x="7845552" y="1691640"/>
            <a:ext cx="3145536" cy="292608"/>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3. SCORE &amp; SELECT</a:t>
            </a:r>
            <a:endParaRPr lang="en-US" sz="1250" dirty="0"/>
          </a:p>
        </p:txBody>
      </p:sp>
      <p:sp>
        <p:nvSpPr>
          <p:cNvPr id="17" name="Text 14"/>
          <p:cNvSpPr/>
          <p:nvPr/>
        </p:nvSpPr>
        <p:spPr>
          <a:xfrm>
            <a:off x="7845552" y="2020824"/>
            <a:ext cx="3145536" cy="585216"/>
          </a:xfrm>
          <a:prstGeom prst="rect">
            <a:avLst/>
          </a:prstGeom>
          <a:noFill/>
          <a:ln/>
        </p:spPr>
        <p:txBody>
          <a:bodyPr wrap="square" lIns="0" tIns="0" rIns="0" bIns="0" rtlCol="0" anchor="t"/>
          <a:lstStyle/>
          <a:p>
            <a:pPr marL="0" indent="0" algn="ctr">
              <a:lnSpc>
                <a:spcPts val="1200"/>
              </a:lnSpc>
              <a:buNone/>
            </a:pPr>
            <a:r>
              <a:rPr lang="en-US" sz="900" dirty="0">
                <a:solidFill>
                  <a:srgbClr val="8A91A6"/>
                </a:solidFill>
                <a:latin typeface="Calibri" pitchFamily="34" charset="0"/>
                <a:ea typeface="Calibri" pitchFamily="34" charset="-122"/>
                <a:cs typeface="Calibri" pitchFamily="34" charset="-120"/>
              </a:rPr>
              <a:t>Rank by cost function,</a:t>
            </a:r>
            <a:endParaRPr lang="en-US" sz="900" dirty="0"/>
          </a:p>
          <a:p>
            <a:pPr marL="0" indent="0" algn="ctr">
              <a:lnSpc>
                <a:spcPts val="1200"/>
              </a:lnSpc>
              <a:buNone/>
            </a:pPr>
            <a:r>
              <a:rPr lang="en-US" sz="900" dirty="0">
                <a:solidFill>
                  <a:srgbClr val="8A91A6"/>
                </a:solidFill>
                <a:latin typeface="Calibri" pitchFamily="34" charset="0"/>
                <a:ea typeface="Calibri" pitchFamily="34" charset="-122"/>
                <a:cs typeface="Calibri" pitchFamily="34" charset="-120"/>
              </a:rPr>
              <a:t>pick lowest-cost path</a:t>
            </a:r>
            <a:endParaRPr lang="en-US" sz="900" dirty="0"/>
          </a:p>
        </p:txBody>
      </p:sp>
      <p:sp>
        <p:nvSpPr>
          <p:cNvPr id="18" name="Text 15"/>
          <p:cNvSpPr/>
          <p:nvPr/>
        </p:nvSpPr>
        <p:spPr>
          <a:xfrm>
            <a:off x="548640" y="3017520"/>
            <a:ext cx="11064240" cy="2377440"/>
          </a:xfrm>
          <a:prstGeom prst="rect">
            <a:avLst/>
          </a:prstGeom>
          <a:noFill/>
          <a:ln/>
        </p:spPr>
        <p:txBody>
          <a:bodyPr wrap="square" lIns="0" tIns="0" rIns="0" bIns="0" rtlCol="0" anchor="t"/>
          <a:lstStyle/>
          <a:p>
            <a:pPr marL="228600" indent="-228600">
              <a:lnSpc>
                <a:spcPts val="1823"/>
              </a:lnSpc>
              <a:spcAft>
                <a:spcPts val="1200"/>
              </a:spcAft>
              <a:buSzPct val="100000"/>
              <a:buChar char="▪"/>
            </a:pPr>
            <a:r>
              <a:rPr lang="en-US" sz="1350" dirty="0">
                <a:solidFill>
                  <a:srgbClr val="B7BDCC"/>
                </a:solidFill>
                <a:latin typeface="Calibri" pitchFamily="34" charset="0"/>
                <a:ea typeface="Calibri" pitchFamily="34" charset="-122"/>
                <a:cs typeface="Calibri" pitchFamily="34" charset="-120"/>
              </a:rPr>
              <a:t>There's no single fixed goal position — instead, the space between left and right cones defines a whole set of possible center-line paths.</a:t>
            </a:r>
            <a:endParaRPr lang="en-US" sz="1350" dirty="0"/>
          </a:p>
          <a:p>
            <a:pPr marL="228600" indent="-228600">
              <a:lnSpc>
                <a:spcPts val="1823"/>
              </a:lnSpc>
              <a:spcAft>
                <a:spcPts val="1200"/>
              </a:spcAft>
              <a:buSzPct val="100000"/>
              <a:buChar char="▪"/>
            </a:pPr>
            <a:r>
              <a:rPr lang="en-US" sz="1350" dirty="0">
                <a:solidFill>
                  <a:srgbClr val="B7BDCC"/>
                </a:solidFill>
                <a:latin typeface="Calibri" pitchFamily="34" charset="0"/>
                <a:ea typeface="Calibri" pitchFamily="34" charset="-122"/>
                <a:cs typeface="Calibri" pitchFamily="34" charset="-120"/>
              </a:rPr>
              <a:t>The car doesn't need a full map upfront: this runs in a receding-horizon fashion, re-estimating a new candidate center line roughly every 50 ms as new cones come into view.</a:t>
            </a:r>
            <a:endParaRPr lang="en-US" sz="1350" dirty="0"/>
          </a:p>
          <a:p>
            <a:pPr marL="228600" indent="-228600">
              <a:lnSpc>
                <a:spcPts val="1823"/>
              </a:lnSpc>
              <a:spcAft>
                <a:spcPts val="1200"/>
              </a:spcAft>
              <a:buSzPct val="100000"/>
              <a:buChar char="▪"/>
            </a:pPr>
            <a:r>
              <a:rPr lang="en-US" sz="1350" dirty="0">
                <a:solidFill>
                  <a:srgbClr val="B7BDCC"/>
                </a:solidFill>
                <a:latin typeface="Calibri" pitchFamily="34" charset="0"/>
                <a:ea typeface="Calibri" pitchFamily="34" charset="-122"/>
                <a:cs typeface="Calibri" pitchFamily="34" charset="-120"/>
              </a:rPr>
              <a:t>The worst candidate paths are pruned along the way (beam search) to keep the search computationally tractable in real time.</a:t>
            </a:r>
            <a:endParaRPr lang="en-US" sz="1350" dirty="0"/>
          </a:p>
        </p:txBody>
      </p:sp>
      <p:sp>
        <p:nvSpPr>
          <p:cNvPr id="20" name="Text 17"/>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A91A6"/>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63946"/>
          </a:solidFill>
          <a:ln/>
        </p:spPr>
      </p:sp>
      <p:pic>
        <p:nvPicPr>
          <p:cNvPr id="3" name="Image 0" descr="/home/claude/amz_deck/icons/calculator.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p:nvPr/>
        </p:nvSpPr>
        <p:spPr>
          <a:xfrm>
            <a:off x="1325880" y="438912"/>
            <a:ext cx="10314432" cy="27432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PLANNING</a:t>
            </a:r>
            <a:endParaRPr lang="en-US" sz="1200" dirty="0"/>
          </a:p>
        </p:txBody>
      </p:sp>
      <p:sp>
        <p:nvSpPr>
          <p:cNvPr id="5" name="Text 2"/>
          <p:cNvSpPr/>
          <p:nvPr/>
        </p:nvSpPr>
        <p:spPr>
          <a:xfrm>
            <a:off x="1325880" y="658368"/>
            <a:ext cx="10314432"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Scoring Candidate Paths</a:t>
            </a:r>
            <a:endParaRPr lang="en-US" sz="3000" dirty="0"/>
          </a:p>
        </p:txBody>
      </p:sp>
      <p:sp>
        <p:nvSpPr>
          <p:cNvPr id="6" name="Shape 3"/>
          <p:cNvSpPr/>
          <p:nvPr/>
        </p:nvSpPr>
        <p:spPr>
          <a:xfrm>
            <a:off x="548640" y="1234440"/>
            <a:ext cx="11091672" cy="0"/>
          </a:xfrm>
          <a:prstGeom prst="line">
            <a:avLst/>
          </a:prstGeom>
          <a:noFill/>
          <a:ln w="12700">
            <a:solidFill>
              <a:srgbClr val="2A3245"/>
            </a:solidFill>
            <a:prstDash val="solid"/>
          </a:ln>
        </p:spPr>
      </p:sp>
      <p:sp>
        <p:nvSpPr>
          <p:cNvPr id="7" name="Shape 4"/>
          <p:cNvSpPr/>
          <p:nvPr/>
        </p:nvSpPr>
        <p:spPr>
          <a:xfrm>
            <a:off x="548640" y="1554480"/>
            <a:ext cx="11064240" cy="713232"/>
          </a:xfrm>
          <a:prstGeom prst="roundRect">
            <a:avLst>
              <a:gd name="adj" fmla="val 7692"/>
            </a:avLst>
          </a:prstGeom>
          <a:solidFill>
            <a:srgbClr val="141924"/>
          </a:solidFill>
          <a:ln/>
        </p:spPr>
      </p:sp>
      <p:sp>
        <p:nvSpPr>
          <p:cNvPr id="8" name="Text 5"/>
          <p:cNvSpPr/>
          <p:nvPr/>
        </p:nvSpPr>
        <p:spPr>
          <a:xfrm>
            <a:off x="777240" y="1554480"/>
            <a:ext cx="3291840" cy="713232"/>
          </a:xfrm>
          <a:prstGeom prst="rect">
            <a:avLst/>
          </a:prstGeom>
          <a:noFill/>
          <a:ln/>
        </p:spPr>
        <p:txBody>
          <a:bodyPr wrap="square" rtlCol="0" anchor="ctr"/>
          <a:lstStyle/>
          <a:p>
            <a:pPr marL="0" indent="0">
              <a:buNone/>
            </a:pPr>
            <a:r>
              <a:rPr lang="en-US" sz="1250" b="1" dirty="0">
                <a:solidFill>
                  <a:srgbClr val="E63946"/>
                </a:solidFill>
                <a:latin typeface="Calibri" pitchFamily="34" charset="0"/>
                <a:ea typeface="Calibri" pitchFamily="34" charset="-122"/>
                <a:cs typeface="Calibri" pitchFamily="34" charset="-120"/>
              </a:rPr>
              <a:t>Max angle change</a:t>
            </a:r>
            <a:endParaRPr lang="en-US" sz="1250" dirty="0"/>
          </a:p>
        </p:txBody>
      </p:sp>
      <p:sp>
        <p:nvSpPr>
          <p:cNvPr id="9" name="Text 6"/>
          <p:cNvSpPr/>
          <p:nvPr/>
        </p:nvSpPr>
        <p:spPr>
          <a:xfrm>
            <a:off x="4160520" y="1554480"/>
            <a:ext cx="7223760" cy="713232"/>
          </a:xfrm>
          <a:prstGeom prst="rect">
            <a:avLst/>
          </a:prstGeom>
          <a:noFill/>
          <a:ln/>
        </p:spPr>
        <p:txBody>
          <a:bodyPr wrap="square" rtlCol="0" anchor="ctr"/>
          <a:lstStyle/>
          <a:p>
            <a:pPr marL="0" indent="0">
              <a:buNone/>
            </a:pPr>
            <a:r>
              <a:rPr lang="en-US" sz="1150" dirty="0">
                <a:solidFill>
                  <a:srgbClr val="B7BDCC"/>
                </a:solidFill>
                <a:latin typeface="Calibri" pitchFamily="34" charset="0"/>
                <a:ea typeface="Calibri" pitchFamily="34" charset="-122"/>
                <a:cs typeface="Calibri" pitchFamily="34" charset="-120"/>
              </a:rPr>
              <a:t>Sharp direction changes are unlikely — even hard corners are built from multiple cones.</a:t>
            </a:r>
            <a:endParaRPr lang="en-US" sz="1150" dirty="0"/>
          </a:p>
        </p:txBody>
      </p:sp>
      <p:sp>
        <p:nvSpPr>
          <p:cNvPr id="10" name="Shape 7"/>
          <p:cNvSpPr/>
          <p:nvPr/>
        </p:nvSpPr>
        <p:spPr>
          <a:xfrm>
            <a:off x="548640" y="2377440"/>
            <a:ext cx="11064240" cy="713232"/>
          </a:xfrm>
          <a:prstGeom prst="roundRect">
            <a:avLst>
              <a:gd name="adj" fmla="val 7692"/>
            </a:avLst>
          </a:prstGeom>
          <a:solidFill>
            <a:srgbClr val="141924"/>
          </a:solidFill>
          <a:ln/>
        </p:spPr>
      </p:sp>
      <p:sp>
        <p:nvSpPr>
          <p:cNvPr id="11" name="Text 8"/>
          <p:cNvSpPr/>
          <p:nvPr/>
        </p:nvSpPr>
        <p:spPr>
          <a:xfrm>
            <a:off x="777240" y="2377440"/>
            <a:ext cx="3291840" cy="713232"/>
          </a:xfrm>
          <a:prstGeom prst="rect">
            <a:avLst/>
          </a:prstGeom>
          <a:noFill/>
          <a:ln/>
        </p:spPr>
        <p:txBody>
          <a:bodyPr wrap="square" rtlCol="0" anchor="ctr"/>
          <a:lstStyle/>
          <a:p>
            <a:pPr marL="0" indent="0">
              <a:buNone/>
            </a:pPr>
            <a:r>
              <a:rPr lang="en-US" sz="1250" b="1" dirty="0">
                <a:solidFill>
                  <a:srgbClr val="E63946"/>
                </a:solidFill>
                <a:latin typeface="Calibri" pitchFamily="34" charset="0"/>
                <a:ea typeface="Calibri" pitchFamily="34" charset="-122"/>
                <a:cs typeface="Calibri" pitchFamily="34" charset="-120"/>
              </a:rPr>
              <a:t>Track width consistency</a:t>
            </a:r>
            <a:endParaRPr lang="en-US" sz="1250" dirty="0"/>
          </a:p>
        </p:txBody>
      </p:sp>
      <p:sp>
        <p:nvSpPr>
          <p:cNvPr id="12" name="Text 9"/>
          <p:cNvSpPr/>
          <p:nvPr/>
        </p:nvSpPr>
        <p:spPr>
          <a:xfrm>
            <a:off x="4160520" y="2377440"/>
            <a:ext cx="7223760" cy="713232"/>
          </a:xfrm>
          <a:prstGeom prst="rect">
            <a:avLst/>
          </a:prstGeom>
          <a:noFill/>
          <a:ln/>
        </p:spPr>
        <p:txBody>
          <a:bodyPr wrap="square" rtlCol="0" anchor="ctr"/>
          <a:lstStyle/>
          <a:p>
            <a:pPr marL="0" indent="0">
              <a:buNone/>
            </a:pPr>
            <a:r>
              <a:rPr lang="en-US" sz="1150" dirty="0">
                <a:solidFill>
                  <a:srgbClr val="B7BDCC"/>
                </a:solidFill>
                <a:latin typeface="Calibri" pitchFamily="34" charset="0"/>
                <a:ea typeface="Calibri" pitchFamily="34" charset="-122"/>
                <a:cs typeface="Calibri" pitchFamily="34" charset="-120"/>
              </a:rPr>
              <a:t>Track width is rule-regulated, so it shouldn't vary much along a valid path.</a:t>
            </a:r>
            <a:endParaRPr lang="en-US" sz="1150" dirty="0"/>
          </a:p>
        </p:txBody>
      </p:sp>
      <p:sp>
        <p:nvSpPr>
          <p:cNvPr id="13" name="Shape 10"/>
          <p:cNvSpPr/>
          <p:nvPr/>
        </p:nvSpPr>
        <p:spPr>
          <a:xfrm>
            <a:off x="548640" y="3200400"/>
            <a:ext cx="11064240" cy="713232"/>
          </a:xfrm>
          <a:prstGeom prst="roundRect">
            <a:avLst>
              <a:gd name="adj" fmla="val 7692"/>
            </a:avLst>
          </a:prstGeom>
          <a:solidFill>
            <a:srgbClr val="141924"/>
          </a:solidFill>
          <a:ln/>
        </p:spPr>
      </p:sp>
      <p:sp>
        <p:nvSpPr>
          <p:cNvPr id="14" name="Text 11"/>
          <p:cNvSpPr/>
          <p:nvPr/>
        </p:nvSpPr>
        <p:spPr>
          <a:xfrm>
            <a:off x="777240" y="3200400"/>
            <a:ext cx="3291840" cy="713232"/>
          </a:xfrm>
          <a:prstGeom prst="rect">
            <a:avLst/>
          </a:prstGeom>
          <a:noFill/>
          <a:ln/>
        </p:spPr>
        <p:txBody>
          <a:bodyPr wrap="square" rtlCol="0" anchor="ctr"/>
          <a:lstStyle/>
          <a:p>
            <a:pPr marL="0" indent="0">
              <a:buNone/>
            </a:pPr>
            <a:r>
              <a:rPr lang="en-US" sz="1250" b="1" dirty="0">
                <a:solidFill>
                  <a:srgbClr val="E63946"/>
                </a:solidFill>
                <a:latin typeface="Calibri" pitchFamily="34" charset="0"/>
                <a:ea typeface="Calibri" pitchFamily="34" charset="-122"/>
                <a:cs typeface="Calibri" pitchFamily="34" charset="-120"/>
              </a:rPr>
              <a:t>Left/right cone spacing</a:t>
            </a:r>
            <a:endParaRPr lang="en-US" sz="1250" dirty="0"/>
          </a:p>
        </p:txBody>
      </p:sp>
      <p:sp>
        <p:nvSpPr>
          <p:cNvPr id="15" name="Text 12"/>
          <p:cNvSpPr/>
          <p:nvPr/>
        </p:nvSpPr>
        <p:spPr>
          <a:xfrm>
            <a:off x="4160520" y="3200400"/>
            <a:ext cx="7223760" cy="713232"/>
          </a:xfrm>
          <a:prstGeom prst="rect">
            <a:avLst/>
          </a:prstGeom>
          <a:noFill/>
          <a:ln/>
        </p:spPr>
        <p:txBody>
          <a:bodyPr wrap="square" rtlCol="0" anchor="ctr"/>
          <a:lstStyle/>
          <a:p>
            <a:pPr marL="0" indent="0">
              <a:buNone/>
            </a:pPr>
            <a:r>
              <a:rPr lang="en-US" sz="1150" dirty="0">
                <a:solidFill>
                  <a:srgbClr val="B7BDCC"/>
                </a:solidFill>
                <a:latin typeface="Calibri" pitchFamily="34" charset="0"/>
                <a:ea typeface="Calibri" pitchFamily="34" charset="-122"/>
                <a:cs typeface="Calibri" pitchFamily="34" charset="-120"/>
              </a:rPr>
              <a:t>Cones marking the track are roughly evenly spaced — helps discard outlier detections.</a:t>
            </a:r>
            <a:endParaRPr lang="en-US" sz="1150" dirty="0"/>
          </a:p>
        </p:txBody>
      </p:sp>
      <p:sp>
        <p:nvSpPr>
          <p:cNvPr id="16" name="Shape 13"/>
          <p:cNvSpPr/>
          <p:nvPr/>
        </p:nvSpPr>
        <p:spPr>
          <a:xfrm>
            <a:off x="548640" y="4023360"/>
            <a:ext cx="11064240" cy="713232"/>
          </a:xfrm>
          <a:prstGeom prst="roundRect">
            <a:avLst>
              <a:gd name="adj" fmla="val 7692"/>
            </a:avLst>
          </a:prstGeom>
          <a:solidFill>
            <a:srgbClr val="141924"/>
          </a:solidFill>
          <a:ln/>
        </p:spPr>
      </p:sp>
      <p:sp>
        <p:nvSpPr>
          <p:cNvPr id="17" name="Text 14"/>
          <p:cNvSpPr/>
          <p:nvPr/>
        </p:nvSpPr>
        <p:spPr>
          <a:xfrm>
            <a:off x="777240" y="4023360"/>
            <a:ext cx="3291840" cy="713232"/>
          </a:xfrm>
          <a:prstGeom prst="rect">
            <a:avLst/>
          </a:prstGeom>
          <a:noFill/>
          <a:ln/>
        </p:spPr>
        <p:txBody>
          <a:bodyPr wrap="square" rtlCol="0" anchor="ctr"/>
          <a:lstStyle/>
          <a:p>
            <a:pPr marL="0" indent="0">
              <a:buNone/>
            </a:pPr>
            <a:r>
              <a:rPr lang="en-US" sz="1250" b="1" dirty="0">
                <a:solidFill>
                  <a:srgbClr val="E63946"/>
                </a:solidFill>
                <a:latin typeface="Calibri" pitchFamily="34" charset="0"/>
                <a:ea typeface="Calibri" pitchFamily="34" charset="-122"/>
                <a:cs typeface="Calibri" pitchFamily="34" charset="-120"/>
              </a:rPr>
              <a:t>Wrong-color probability</a:t>
            </a:r>
            <a:endParaRPr lang="en-US" sz="1250" dirty="0"/>
          </a:p>
        </p:txBody>
      </p:sp>
      <p:sp>
        <p:nvSpPr>
          <p:cNvPr id="18" name="Text 15"/>
          <p:cNvSpPr/>
          <p:nvPr/>
        </p:nvSpPr>
        <p:spPr>
          <a:xfrm>
            <a:off x="4160520" y="4023360"/>
            <a:ext cx="7223760" cy="713232"/>
          </a:xfrm>
          <a:prstGeom prst="rect">
            <a:avLst/>
          </a:prstGeom>
          <a:noFill/>
          <a:ln/>
        </p:spPr>
        <p:txBody>
          <a:bodyPr wrap="square" rtlCol="0" anchor="ctr"/>
          <a:lstStyle/>
          <a:p>
            <a:pPr marL="0" indent="0">
              <a:buNone/>
            </a:pPr>
            <a:r>
              <a:rPr lang="en-US" sz="1150" dirty="0">
                <a:solidFill>
                  <a:srgbClr val="B7BDCC"/>
                </a:solidFill>
                <a:latin typeface="Calibri" pitchFamily="34" charset="0"/>
                <a:ea typeface="Calibri" pitchFamily="34" charset="-122"/>
                <a:cs typeface="Calibri" pitchFamily="34" charset="-120"/>
              </a:rPr>
              <a:t>Left cones should be blue, right should be yellow — penalizes paths that break this.</a:t>
            </a:r>
            <a:endParaRPr lang="en-US" sz="1150" dirty="0"/>
          </a:p>
        </p:txBody>
      </p:sp>
      <p:sp>
        <p:nvSpPr>
          <p:cNvPr id="19" name="Shape 16"/>
          <p:cNvSpPr/>
          <p:nvPr/>
        </p:nvSpPr>
        <p:spPr>
          <a:xfrm>
            <a:off x="548640" y="4846320"/>
            <a:ext cx="11064240" cy="713232"/>
          </a:xfrm>
          <a:prstGeom prst="roundRect">
            <a:avLst>
              <a:gd name="adj" fmla="val 7692"/>
            </a:avLst>
          </a:prstGeom>
          <a:solidFill>
            <a:srgbClr val="141924"/>
          </a:solidFill>
          <a:ln/>
        </p:spPr>
      </p:sp>
      <p:sp>
        <p:nvSpPr>
          <p:cNvPr id="20" name="Text 17"/>
          <p:cNvSpPr/>
          <p:nvPr/>
        </p:nvSpPr>
        <p:spPr>
          <a:xfrm>
            <a:off x="777240" y="4846320"/>
            <a:ext cx="3291840" cy="713232"/>
          </a:xfrm>
          <a:prstGeom prst="rect">
            <a:avLst/>
          </a:prstGeom>
          <a:noFill/>
          <a:ln/>
        </p:spPr>
        <p:txBody>
          <a:bodyPr wrap="square" rtlCol="0" anchor="ctr"/>
          <a:lstStyle/>
          <a:p>
            <a:pPr marL="0" indent="0">
              <a:buNone/>
            </a:pPr>
            <a:r>
              <a:rPr lang="en-US" sz="1250" b="1" dirty="0">
                <a:solidFill>
                  <a:srgbClr val="E63946"/>
                </a:solidFill>
                <a:latin typeface="Calibri" pitchFamily="34" charset="0"/>
                <a:ea typeface="Calibri" pitchFamily="34" charset="-122"/>
                <a:cs typeface="Calibri" pitchFamily="34" charset="-120"/>
              </a:rPr>
              <a:t>Path length vs. sensor range</a:t>
            </a:r>
            <a:endParaRPr lang="en-US" sz="1250" dirty="0"/>
          </a:p>
        </p:txBody>
      </p:sp>
      <p:sp>
        <p:nvSpPr>
          <p:cNvPr id="21" name="Text 18"/>
          <p:cNvSpPr/>
          <p:nvPr/>
        </p:nvSpPr>
        <p:spPr>
          <a:xfrm>
            <a:off x="4160520" y="4846320"/>
            <a:ext cx="7223760" cy="713232"/>
          </a:xfrm>
          <a:prstGeom prst="rect">
            <a:avLst/>
          </a:prstGeom>
          <a:noFill/>
          <a:ln/>
        </p:spPr>
        <p:txBody>
          <a:bodyPr wrap="square" rtlCol="0" anchor="ctr"/>
          <a:lstStyle/>
          <a:p>
            <a:pPr marL="0" indent="0">
              <a:buNone/>
            </a:pPr>
            <a:r>
              <a:rPr lang="en-US" sz="1150" dirty="0">
                <a:solidFill>
                  <a:srgbClr val="B7BDCC"/>
                </a:solidFill>
                <a:latin typeface="Calibri" pitchFamily="34" charset="0"/>
                <a:ea typeface="Calibri" pitchFamily="34" charset="-122"/>
                <a:cs typeface="Calibri" pitchFamily="34" charset="-120"/>
              </a:rPr>
              <a:t>Penalizes paths that are implausibly shorter or longer than the sensor's range.</a:t>
            </a:r>
            <a:endParaRPr lang="en-US" sz="1150" dirty="0"/>
          </a:p>
        </p:txBody>
      </p:sp>
      <p:sp>
        <p:nvSpPr>
          <p:cNvPr id="22" name="Text 19"/>
          <p:cNvSpPr/>
          <p:nvPr/>
        </p:nvSpPr>
        <p:spPr>
          <a:xfrm>
            <a:off x="548640" y="5715000"/>
            <a:ext cx="11064240" cy="457200"/>
          </a:xfrm>
          <a:prstGeom prst="rect">
            <a:avLst/>
          </a:prstGeom>
          <a:noFill/>
          <a:ln/>
        </p:spPr>
        <p:txBody>
          <a:bodyPr wrap="square" rtlCol="0" anchor="ctr"/>
          <a:lstStyle/>
          <a:p>
            <a:pPr marL="0" indent="0">
              <a:buNone/>
            </a:pPr>
            <a:r>
              <a:rPr lang="en-US" sz="1200" i="1" dirty="0">
                <a:solidFill>
                  <a:srgbClr val="8A91A6"/>
                </a:solidFill>
                <a:latin typeface="Calibri" pitchFamily="34" charset="0"/>
                <a:ea typeface="Calibri" pitchFamily="34" charset="-122"/>
                <a:cs typeface="Calibri" pitchFamily="34" charset="-120"/>
              </a:rPr>
              <a:t>All five costs are normalized, squared, weighted, and summed — the lowest-cost path is chosen as the estimated center line and track boundary.</a:t>
            </a:r>
            <a:endParaRPr lang="en-US" sz="1200" dirty="0"/>
          </a:p>
        </p:txBody>
      </p:sp>
      <p:sp>
        <p:nvSpPr>
          <p:cNvPr id="24" name="Text 21"/>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A91A6"/>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63946"/>
          </a:solidFill>
          <a:ln/>
        </p:spPr>
      </p:sp>
      <p:pic>
        <p:nvPicPr>
          <p:cNvPr id="3" name="Image 0" descr="/home/claude/amz_deck/icons/route.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p:nvPr/>
        </p:nvSpPr>
        <p:spPr>
          <a:xfrm>
            <a:off x="1325880" y="438912"/>
            <a:ext cx="10314432" cy="27432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CONTROL</a:t>
            </a:r>
            <a:endParaRPr lang="en-US" sz="1200" dirty="0"/>
          </a:p>
        </p:txBody>
      </p:sp>
      <p:sp>
        <p:nvSpPr>
          <p:cNvPr id="5" name="Text 2"/>
          <p:cNvSpPr/>
          <p:nvPr/>
        </p:nvSpPr>
        <p:spPr>
          <a:xfrm>
            <a:off x="1325880" y="658368"/>
            <a:ext cx="10314432"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Racing Isn't Just Following the Center Line</a:t>
            </a:r>
            <a:endParaRPr lang="en-US" sz="3000" dirty="0"/>
          </a:p>
        </p:txBody>
      </p:sp>
      <p:sp>
        <p:nvSpPr>
          <p:cNvPr id="6" name="Shape 3"/>
          <p:cNvSpPr/>
          <p:nvPr/>
        </p:nvSpPr>
        <p:spPr>
          <a:xfrm>
            <a:off x="548640" y="1234440"/>
            <a:ext cx="11091672" cy="0"/>
          </a:xfrm>
          <a:prstGeom prst="line">
            <a:avLst/>
          </a:prstGeom>
          <a:noFill/>
          <a:ln w="12700">
            <a:solidFill>
              <a:srgbClr val="2A3245"/>
            </a:solidFill>
            <a:prstDash val="solid"/>
          </a:ln>
        </p:spPr>
      </p:sp>
      <p:sp>
        <p:nvSpPr>
          <p:cNvPr id="7" name="Text 4"/>
          <p:cNvSpPr/>
          <p:nvPr/>
        </p:nvSpPr>
        <p:spPr>
          <a:xfrm>
            <a:off x="548640" y="1554480"/>
            <a:ext cx="11064240" cy="2926080"/>
          </a:xfrm>
          <a:prstGeom prst="rect">
            <a:avLst/>
          </a:prstGeom>
          <a:noFill/>
          <a:ln/>
        </p:spPr>
        <p:txBody>
          <a:bodyPr wrap="square" lIns="0" tIns="0" rIns="0" bIns="0" rtlCol="0" anchor="t"/>
          <a:lstStyle/>
          <a:p>
            <a:pPr marL="228600" indent="-228600">
              <a:lnSpc>
                <a:spcPts val="2025"/>
              </a:lnSpc>
              <a:spcAft>
                <a:spcPts val="1800"/>
              </a:spcAft>
              <a:buSzPct val="100000"/>
              <a:buChar char="▪"/>
            </a:pPr>
            <a:r>
              <a:rPr lang="en-US" sz="1500" dirty="0">
                <a:solidFill>
                  <a:srgbClr val="B7BDCC"/>
                </a:solidFill>
                <a:latin typeface="Calibri" pitchFamily="34" charset="0"/>
                <a:ea typeface="Calibri" pitchFamily="34" charset="-122"/>
                <a:cs typeface="Calibri" pitchFamily="34" charset="-120"/>
              </a:rPr>
              <a:t>The goal in Control mode isn't to stay safely centered — it's to minimize lap time, which is a fundamentally different objective.</a:t>
            </a:r>
            <a:endParaRPr lang="en-US" sz="1500" dirty="0"/>
          </a:p>
          <a:p>
            <a:pPr marL="228600" indent="-228600">
              <a:lnSpc>
                <a:spcPts val="2025"/>
              </a:lnSpc>
              <a:spcAft>
                <a:spcPts val="1800"/>
              </a:spcAft>
              <a:buSzPct val="100000"/>
              <a:buChar char="▪"/>
            </a:pPr>
            <a:r>
              <a:rPr lang="en-US" sz="1500" dirty="0">
                <a:solidFill>
                  <a:srgbClr val="B7BDCC"/>
                </a:solidFill>
                <a:latin typeface="Calibri" pitchFamily="34" charset="0"/>
                <a:ea typeface="Calibri" pitchFamily="34" charset="-122"/>
                <a:cs typeface="Calibri" pitchFamily="34" charset="-120"/>
              </a:rPr>
              <a:t>The fastest racing line often cuts closer to one edge through corners, trading extra path length for a higher sustainable speed — something a pure center-line follower would never do.</a:t>
            </a:r>
            <a:endParaRPr lang="en-US" sz="1500" dirty="0"/>
          </a:p>
          <a:p>
            <a:pPr marL="228600" indent="-228600">
              <a:lnSpc>
                <a:spcPts val="2025"/>
              </a:lnSpc>
              <a:spcAft>
                <a:spcPts val="1800"/>
              </a:spcAft>
              <a:buSzPct val="100000"/>
              <a:buChar char="▪"/>
            </a:pPr>
            <a:r>
              <a:rPr lang="en-US" sz="1500" dirty="0">
                <a:solidFill>
                  <a:srgbClr val="B7BDCC"/>
                </a:solidFill>
                <a:latin typeface="Calibri" pitchFamily="34" charset="0"/>
                <a:ea typeface="Calibri" pitchFamily="34" charset="-122"/>
                <a:cs typeface="Calibri" pitchFamily="34" charset="-120"/>
              </a:rPr>
              <a:t>The system uses a nonlinear Model Predictive Control (MPC) framework that directly maximizes progress along the track, while respecting the vehicle's real handling limits and the track boundaries — with no separate, pre-computed “racing line” logic needed.</a:t>
            </a:r>
            <a:endParaRPr lang="en-US" sz="1500" dirty="0"/>
          </a:p>
        </p:txBody>
      </p:sp>
      <p:sp>
        <p:nvSpPr>
          <p:cNvPr id="8" name="Shape 5"/>
          <p:cNvSpPr/>
          <p:nvPr/>
        </p:nvSpPr>
        <p:spPr>
          <a:xfrm>
            <a:off x="548640" y="4572000"/>
            <a:ext cx="11064240" cy="1463040"/>
          </a:xfrm>
          <a:prstGeom prst="roundRect">
            <a:avLst>
              <a:gd name="adj" fmla="val 5000"/>
            </a:avLst>
          </a:prstGeom>
          <a:solidFill>
            <a:srgbClr val="142430"/>
          </a:solidFill>
          <a:ln/>
        </p:spPr>
      </p:sp>
      <p:sp>
        <p:nvSpPr>
          <p:cNvPr id="9" name="Text 6"/>
          <p:cNvSpPr/>
          <p:nvPr/>
        </p:nvSpPr>
        <p:spPr>
          <a:xfrm>
            <a:off x="822960" y="4754880"/>
            <a:ext cx="10515600" cy="320040"/>
          </a:xfrm>
          <a:prstGeom prst="rect">
            <a:avLst/>
          </a:prstGeom>
          <a:noFill/>
          <a:ln/>
        </p:spPr>
        <p:txBody>
          <a:bodyPr wrap="square" rtlCol="0" anchor="ctr"/>
          <a:lstStyle/>
          <a:p>
            <a:pPr marL="0" indent="0">
              <a:buNone/>
            </a:pPr>
            <a:r>
              <a:rPr lang="en-US" sz="1300" b="1" dirty="0">
                <a:solidFill>
                  <a:srgbClr val="E63946"/>
                </a:solidFill>
                <a:latin typeface="Calibri" pitchFamily="34" charset="0"/>
                <a:ea typeface="Calibri" pitchFamily="34" charset="-122"/>
                <a:cs typeface="Calibri" pitchFamily="34" charset="-120"/>
              </a:rPr>
              <a:t>Why MPC specifically</a:t>
            </a:r>
            <a:endParaRPr lang="en-US" sz="1300" dirty="0"/>
          </a:p>
        </p:txBody>
      </p:sp>
      <p:sp>
        <p:nvSpPr>
          <p:cNvPr id="10" name="Text 7"/>
          <p:cNvSpPr/>
          <p:nvPr/>
        </p:nvSpPr>
        <p:spPr>
          <a:xfrm>
            <a:off x="822960" y="5074920"/>
            <a:ext cx="10515600" cy="868680"/>
          </a:xfrm>
          <a:prstGeom prst="rect">
            <a:avLst/>
          </a:prstGeom>
          <a:noFill/>
          <a:ln/>
        </p:spPr>
        <p:txBody>
          <a:bodyPr wrap="square" rtlCol="0" anchor="ctr"/>
          <a:lstStyle/>
          <a:p>
            <a:pPr marL="0" indent="0">
              <a:buNone/>
            </a:pPr>
            <a:r>
              <a:rPr lang="en-US" sz="1250" dirty="0">
                <a:solidFill>
                  <a:srgbClr val="B7BDCC"/>
                </a:solidFill>
                <a:latin typeface="Calibri" pitchFamily="34" charset="0"/>
                <a:ea typeface="Calibri" pitchFamily="34" charset="-122"/>
                <a:cs typeface="Calibri" pitchFamily="34" charset="-120"/>
              </a:rPr>
              <a:t>MPC looks ahead over a prediction horizon and directly accounts for the vehicle's traction limits and track constraints while computing each command — rather than reacting only to the current instant, or relying on hand-tuned racing-line heuristics.</a:t>
            </a:r>
            <a:endParaRPr lang="en-US" sz="1250" dirty="0"/>
          </a:p>
        </p:txBody>
      </p:sp>
      <p:sp>
        <p:nvSpPr>
          <p:cNvPr id="12" name="Text 9"/>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A91A6"/>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63946"/>
          </a:solidFill>
          <a:ln/>
        </p:spPr>
      </p:sp>
      <p:pic>
        <p:nvPicPr>
          <p:cNvPr id="3" name="Image 0" descr="/home/claude/amz_deck/icons/cogs.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p:nvPr/>
        </p:nvSpPr>
        <p:spPr>
          <a:xfrm>
            <a:off x="1325880" y="438912"/>
            <a:ext cx="10314432" cy="27432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CONTROL</a:t>
            </a:r>
            <a:endParaRPr lang="en-US" sz="1200" dirty="0"/>
          </a:p>
        </p:txBody>
      </p:sp>
      <p:sp>
        <p:nvSpPr>
          <p:cNvPr id="5" name="Text 2"/>
          <p:cNvSpPr/>
          <p:nvPr/>
        </p:nvSpPr>
        <p:spPr>
          <a:xfrm>
            <a:off x="1325880" y="658368"/>
            <a:ext cx="10314432"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Bicycle Model Feeding the MPC</a:t>
            </a:r>
            <a:endParaRPr lang="en-US" sz="3000" dirty="0"/>
          </a:p>
        </p:txBody>
      </p:sp>
      <p:sp>
        <p:nvSpPr>
          <p:cNvPr id="6" name="Shape 3"/>
          <p:cNvSpPr/>
          <p:nvPr/>
        </p:nvSpPr>
        <p:spPr>
          <a:xfrm>
            <a:off x="548640" y="1234440"/>
            <a:ext cx="11091672" cy="0"/>
          </a:xfrm>
          <a:prstGeom prst="line">
            <a:avLst/>
          </a:prstGeom>
          <a:noFill/>
          <a:ln w="12700">
            <a:solidFill>
              <a:srgbClr val="2A3245"/>
            </a:solidFill>
            <a:prstDash val="solid"/>
          </a:ln>
        </p:spPr>
      </p:sp>
      <p:sp>
        <p:nvSpPr>
          <p:cNvPr id="7" name="Shape 4"/>
          <p:cNvSpPr/>
          <p:nvPr/>
        </p:nvSpPr>
        <p:spPr>
          <a:xfrm>
            <a:off x="548640" y="1554480"/>
            <a:ext cx="5349240" cy="3931920"/>
          </a:xfrm>
          <a:prstGeom prst="roundRect">
            <a:avLst>
              <a:gd name="adj" fmla="val 1860"/>
            </a:avLst>
          </a:prstGeom>
          <a:solidFill>
            <a:srgbClr val="141924"/>
          </a:solidFill>
          <a:ln/>
        </p:spPr>
      </p:sp>
      <p:sp>
        <p:nvSpPr>
          <p:cNvPr id="8" name="Text 5"/>
          <p:cNvSpPr/>
          <p:nvPr/>
        </p:nvSpPr>
        <p:spPr>
          <a:xfrm>
            <a:off x="822960" y="1737360"/>
            <a:ext cx="4846320" cy="320040"/>
          </a:xfrm>
          <a:prstGeom prst="rect">
            <a:avLst/>
          </a:prstGeom>
          <a:noFill/>
          <a:ln/>
        </p:spPr>
        <p:txBody>
          <a:bodyPr wrap="square" rtlCol="0" anchor="ctr"/>
          <a:lstStyle/>
          <a:p>
            <a:pPr marL="0" indent="0">
              <a:buNone/>
            </a:pPr>
            <a:r>
              <a:rPr lang="en-US" sz="1400" b="1" dirty="0">
                <a:solidFill>
                  <a:srgbClr val="E63946"/>
                </a:solidFill>
                <a:latin typeface="Calibri" pitchFamily="34" charset="0"/>
                <a:ea typeface="Calibri" pitchFamily="34" charset="-122"/>
                <a:cs typeface="Calibri" pitchFamily="34" charset="-120"/>
              </a:rPr>
              <a:t>Bicycle Model</a:t>
            </a:r>
            <a:endParaRPr lang="en-US" sz="1400" dirty="0"/>
          </a:p>
        </p:txBody>
      </p:sp>
      <p:sp>
        <p:nvSpPr>
          <p:cNvPr id="9" name="Text 6"/>
          <p:cNvSpPr/>
          <p:nvPr/>
        </p:nvSpPr>
        <p:spPr>
          <a:xfrm>
            <a:off x="822960" y="2103120"/>
            <a:ext cx="4846320" cy="3200400"/>
          </a:xfrm>
          <a:prstGeom prst="rect">
            <a:avLst/>
          </a:prstGeom>
          <a:noFill/>
          <a:ln/>
        </p:spPr>
        <p:txBody>
          <a:bodyPr wrap="square" lIns="0" tIns="0" rIns="0" bIns="0" rtlCol="0" anchor="t"/>
          <a:lstStyle/>
          <a:p>
            <a:pPr marL="228600" indent="-228600">
              <a:lnSpc>
                <a:spcPts val="1620"/>
              </a:lnSpc>
              <a:spcAft>
                <a:spcPts val="1000"/>
              </a:spcAft>
              <a:buSzPct val="100000"/>
              <a:buChar char="▪"/>
            </a:pPr>
            <a:r>
              <a:rPr lang="en-US" sz="1200" dirty="0">
                <a:solidFill>
                  <a:srgbClr val="B7BDCC"/>
                </a:solidFill>
                <a:latin typeface="Calibri" pitchFamily="34" charset="0"/>
                <a:ea typeface="Calibri" pitchFamily="34" charset="-122"/>
                <a:cs typeface="Calibri" pitchFamily="34" charset="-120"/>
              </a:rPr>
              <a:t>A simplified vehicle model (two wheels instead of four) that captures mass, inertia, and nonlinear tire forces — accurate enough for racing, simple enough to solve in real time.</a:t>
            </a:r>
            <a:endParaRPr lang="en-US" sz="1200" dirty="0"/>
          </a:p>
          <a:p>
            <a:pPr marL="228600" indent="-228600">
              <a:lnSpc>
                <a:spcPts val="1620"/>
              </a:lnSpc>
              <a:spcAft>
                <a:spcPts val="1000"/>
              </a:spcAft>
              <a:buSzPct val="100000"/>
              <a:buChar char="▪"/>
            </a:pPr>
            <a:r>
              <a:rPr lang="en-US" sz="1200" dirty="0">
                <a:solidFill>
                  <a:srgbClr val="B7BDCC"/>
                </a:solidFill>
                <a:latin typeface="Calibri" pitchFamily="34" charset="0"/>
                <a:ea typeface="Calibri" pitchFamily="34" charset="-122"/>
                <a:cs typeface="Calibri" pitchFamily="34" charset="-120"/>
              </a:rPr>
              <a:t>Blends a dynamic model (accurate at speed) with a kinematic model (stable at low speed, e.g. race starts and sharp corners) — using whichever suits the current speed.</a:t>
            </a:r>
            <a:endParaRPr lang="en-US" sz="1200" dirty="0"/>
          </a:p>
          <a:p>
            <a:pPr marL="228600" indent="-228600">
              <a:lnSpc>
                <a:spcPts val="1620"/>
              </a:lnSpc>
              <a:spcAft>
                <a:spcPts val="1000"/>
              </a:spcAft>
              <a:buSzPct val="100000"/>
              <a:buChar char="▪"/>
            </a:pPr>
            <a:r>
              <a:rPr lang="en-US" sz="1200" dirty="0">
                <a:solidFill>
                  <a:srgbClr val="B7BDCC"/>
                </a:solidFill>
                <a:latin typeface="Calibri" pitchFamily="34" charset="0"/>
                <a:ea typeface="Calibri" pitchFamily="34" charset="-122"/>
                <a:cs typeface="Calibri" pitchFamily="34" charset="-120"/>
              </a:rPr>
              <a:t>Includes a tire “friction ellipse” constraint, so the car can't be commanded to exceed real available grip.</a:t>
            </a:r>
            <a:endParaRPr lang="en-US" sz="1200" dirty="0"/>
          </a:p>
        </p:txBody>
      </p:sp>
      <p:sp>
        <p:nvSpPr>
          <p:cNvPr id="10" name="Shape 7"/>
          <p:cNvSpPr/>
          <p:nvPr/>
        </p:nvSpPr>
        <p:spPr>
          <a:xfrm>
            <a:off x="6080760" y="1554480"/>
            <a:ext cx="5532120" cy="3931920"/>
          </a:xfrm>
          <a:prstGeom prst="roundRect">
            <a:avLst>
              <a:gd name="adj" fmla="val 1860"/>
            </a:avLst>
          </a:prstGeom>
          <a:solidFill>
            <a:srgbClr val="141924"/>
          </a:solidFill>
          <a:ln/>
        </p:spPr>
      </p:sp>
      <p:sp>
        <p:nvSpPr>
          <p:cNvPr id="11" name="Text 8"/>
          <p:cNvSpPr/>
          <p:nvPr/>
        </p:nvSpPr>
        <p:spPr>
          <a:xfrm>
            <a:off x="6355080" y="1737360"/>
            <a:ext cx="5029200" cy="320040"/>
          </a:xfrm>
          <a:prstGeom prst="rect">
            <a:avLst/>
          </a:prstGeom>
          <a:noFill/>
          <a:ln/>
        </p:spPr>
        <p:txBody>
          <a:bodyPr wrap="square" rtlCol="0" anchor="ctr"/>
          <a:lstStyle/>
          <a:p>
            <a:pPr marL="0" indent="0">
              <a:buNone/>
            </a:pPr>
            <a:r>
              <a:rPr lang="en-US" sz="1400" b="1" dirty="0">
                <a:solidFill>
                  <a:srgbClr val="E63946"/>
                </a:solidFill>
                <a:latin typeface="Calibri" pitchFamily="34" charset="0"/>
                <a:ea typeface="Calibri" pitchFamily="34" charset="-122"/>
                <a:cs typeface="Calibri" pitchFamily="34" charset="-120"/>
              </a:rPr>
              <a:t>MPC Loop</a:t>
            </a:r>
            <a:endParaRPr lang="en-US" sz="1400" dirty="0"/>
          </a:p>
        </p:txBody>
      </p:sp>
      <p:sp>
        <p:nvSpPr>
          <p:cNvPr id="12" name="Text 9"/>
          <p:cNvSpPr/>
          <p:nvPr/>
        </p:nvSpPr>
        <p:spPr>
          <a:xfrm>
            <a:off x="6355080" y="2103120"/>
            <a:ext cx="5029200" cy="3200400"/>
          </a:xfrm>
          <a:prstGeom prst="rect">
            <a:avLst/>
          </a:prstGeom>
          <a:noFill/>
          <a:ln/>
        </p:spPr>
        <p:txBody>
          <a:bodyPr wrap="square" lIns="0" tIns="0" rIns="0" bIns="0" rtlCol="0" anchor="t"/>
          <a:lstStyle/>
          <a:p>
            <a:pPr marL="228600" indent="-228600">
              <a:lnSpc>
                <a:spcPts val="1620"/>
              </a:lnSpc>
              <a:spcAft>
                <a:spcPts val="1000"/>
              </a:spcAft>
              <a:buSzPct val="100000"/>
              <a:buChar char="▪"/>
            </a:pPr>
            <a:r>
              <a:rPr lang="en-US" sz="1200" dirty="0">
                <a:solidFill>
                  <a:srgbClr val="B7BDCC"/>
                </a:solidFill>
                <a:latin typeface="Calibri" pitchFamily="34" charset="0"/>
                <a:ea typeface="Calibri" pitchFamily="34" charset="-122"/>
                <a:cs typeface="Calibri" pitchFamily="34" charset="-120"/>
              </a:rPr>
              <a:t>Follows the planned center line via a “contouring” cost: minimizes how far off the path the car is, while maximizing progress along it.</a:t>
            </a:r>
            <a:endParaRPr lang="en-US" sz="1200" dirty="0"/>
          </a:p>
          <a:p>
            <a:pPr marL="228600" indent="-228600">
              <a:lnSpc>
                <a:spcPts val="1620"/>
              </a:lnSpc>
              <a:spcAft>
                <a:spcPts val="1000"/>
              </a:spcAft>
              <a:buSzPct val="100000"/>
              <a:buChar char="▪"/>
            </a:pPr>
            <a:r>
              <a:rPr lang="en-US" sz="1200" dirty="0">
                <a:solidFill>
                  <a:srgbClr val="B7BDCC"/>
                </a:solidFill>
                <a:latin typeface="Calibri" pitchFamily="34" charset="0"/>
                <a:ea typeface="Calibri" pitchFamily="34" charset="-122"/>
                <a:cs typeface="Calibri" pitchFamily="34" charset="-120"/>
              </a:rPr>
              <a:t>Track boundaries are enforced as circular constraints along the path, keeping the car provably inside the track.</a:t>
            </a:r>
            <a:endParaRPr lang="en-US" sz="1200" dirty="0"/>
          </a:p>
          <a:p>
            <a:pPr marL="228600" indent="-228600">
              <a:lnSpc>
                <a:spcPts val="1620"/>
              </a:lnSpc>
              <a:spcAft>
                <a:spcPts val="1000"/>
              </a:spcAft>
              <a:buSzPct val="100000"/>
              <a:buChar char="▪"/>
            </a:pPr>
            <a:r>
              <a:rPr lang="en-US" sz="1200" dirty="0">
                <a:solidFill>
                  <a:srgbClr val="B7BDCC"/>
                </a:solidFill>
                <a:latin typeface="Calibri" pitchFamily="34" charset="0"/>
                <a:ea typeface="Calibri" pitchFamily="34" charset="-122"/>
                <a:cs typeface="Calibri" pitchFamily="34" charset="-120"/>
              </a:rPr>
              <a:t>Solved in real time — 90% of solves finish under the 0.05s control period, with a worst case of 0.065s.</a:t>
            </a:r>
            <a:endParaRPr lang="en-US" sz="1200" dirty="0"/>
          </a:p>
        </p:txBody>
      </p:sp>
      <p:sp>
        <p:nvSpPr>
          <p:cNvPr id="14" name="Text 11"/>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A91A6"/>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63946"/>
          </a:solidFill>
          <a:ln/>
        </p:spPr>
      </p:sp>
      <p:pic>
        <p:nvPicPr>
          <p:cNvPr id="3" name="Image 0" descr="/home/claude/amz_deck/icons/flask.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p:nvPr/>
        </p:nvSpPr>
        <p:spPr>
          <a:xfrm>
            <a:off x="1325880" y="438912"/>
            <a:ext cx="10314432" cy="27432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TESTING &amp; SIMULATION</a:t>
            </a:r>
            <a:endParaRPr lang="en-US" sz="1200" dirty="0"/>
          </a:p>
        </p:txBody>
      </p:sp>
      <p:sp>
        <p:nvSpPr>
          <p:cNvPr id="5" name="Text 2"/>
          <p:cNvSpPr/>
          <p:nvPr/>
        </p:nvSpPr>
        <p:spPr>
          <a:xfrm>
            <a:off x="1325880" y="658368"/>
            <a:ext cx="10314432"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Catching Failures Before the Track</a:t>
            </a:r>
            <a:endParaRPr lang="en-US" sz="3000" dirty="0"/>
          </a:p>
        </p:txBody>
      </p:sp>
      <p:sp>
        <p:nvSpPr>
          <p:cNvPr id="6" name="Shape 3"/>
          <p:cNvSpPr/>
          <p:nvPr/>
        </p:nvSpPr>
        <p:spPr>
          <a:xfrm>
            <a:off x="548640" y="1234440"/>
            <a:ext cx="11091672" cy="0"/>
          </a:xfrm>
          <a:prstGeom prst="line">
            <a:avLst/>
          </a:prstGeom>
          <a:noFill/>
          <a:ln w="12700">
            <a:solidFill>
              <a:srgbClr val="2A3245"/>
            </a:solidFill>
            <a:prstDash val="solid"/>
          </a:ln>
        </p:spPr>
      </p:sp>
      <p:sp>
        <p:nvSpPr>
          <p:cNvPr id="7" name="Shape 4"/>
          <p:cNvSpPr/>
          <p:nvPr/>
        </p:nvSpPr>
        <p:spPr>
          <a:xfrm>
            <a:off x="548640" y="1554480"/>
            <a:ext cx="5349240" cy="3931920"/>
          </a:xfrm>
          <a:prstGeom prst="roundRect">
            <a:avLst>
              <a:gd name="adj" fmla="val 1860"/>
            </a:avLst>
          </a:prstGeom>
          <a:solidFill>
            <a:srgbClr val="141924"/>
          </a:solidFill>
          <a:ln/>
        </p:spPr>
      </p:sp>
      <p:sp>
        <p:nvSpPr>
          <p:cNvPr id="8" name="Text 5"/>
          <p:cNvSpPr/>
          <p:nvPr/>
        </p:nvSpPr>
        <p:spPr>
          <a:xfrm>
            <a:off x="822960" y="1737360"/>
            <a:ext cx="4846320" cy="320040"/>
          </a:xfrm>
          <a:prstGeom prst="rect">
            <a:avLst/>
          </a:prstGeom>
          <a:noFill/>
          <a:ln/>
        </p:spPr>
        <p:txBody>
          <a:bodyPr wrap="square" rtlCol="0" anchor="ctr"/>
          <a:lstStyle/>
          <a:p>
            <a:pPr marL="0" indent="0">
              <a:buNone/>
            </a:pPr>
            <a:r>
              <a:rPr lang="en-US" sz="1400" b="1" dirty="0">
                <a:solidFill>
                  <a:srgbClr val="E63946"/>
                </a:solidFill>
                <a:latin typeface="Calibri" pitchFamily="34" charset="0"/>
                <a:ea typeface="Calibri" pitchFamily="34" charset="-122"/>
                <a:cs typeface="Calibri" pitchFamily="34" charset="-120"/>
              </a:rPr>
              <a:t>Why Simulate First</a:t>
            </a:r>
            <a:endParaRPr lang="en-US" sz="1400" dirty="0"/>
          </a:p>
        </p:txBody>
      </p:sp>
      <p:sp>
        <p:nvSpPr>
          <p:cNvPr id="9" name="Text 6"/>
          <p:cNvSpPr/>
          <p:nvPr/>
        </p:nvSpPr>
        <p:spPr>
          <a:xfrm>
            <a:off x="822960" y="2103120"/>
            <a:ext cx="4846320" cy="3200400"/>
          </a:xfrm>
          <a:prstGeom prst="rect">
            <a:avLst/>
          </a:prstGeom>
          <a:noFill/>
          <a:ln/>
        </p:spPr>
        <p:txBody>
          <a:bodyPr wrap="square" lIns="0" tIns="0" rIns="0" bIns="0" rtlCol="0" anchor="t"/>
          <a:lstStyle/>
          <a:p>
            <a:pPr marL="228600" indent="-228600">
              <a:lnSpc>
                <a:spcPts val="1620"/>
              </a:lnSpc>
              <a:spcAft>
                <a:spcPts val="1000"/>
              </a:spcAft>
              <a:buSzPct val="100000"/>
              <a:buChar char="▪"/>
            </a:pPr>
            <a:r>
              <a:rPr lang="en-US" sz="1200" dirty="0">
                <a:solidFill>
                  <a:srgbClr val="B7BDCC"/>
                </a:solidFill>
                <a:latin typeface="Calibri" pitchFamily="34" charset="0"/>
                <a:ea typeface="Calibri" pitchFamily="34" charset="-122"/>
                <a:cs typeface="Calibri" pitchFamily="34" charset="-120"/>
              </a:rPr>
              <a:t>Real-world testing costs real time and manpower, and heavily limits how many tests can actually be run.</a:t>
            </a:r>
            <a:endParaRPr lang="en-US" sz="1200" dirty="0"/>
          </a:p>
          <a:p>
            <a:pPr marL="228600" indent="-228600">
              <a:lnSpc>
                <a:spcPts val="1620"/>
              </a:lnSpc>
              <a:spcAft>
                <a:spcPts val="1000"/>
              </a:spcAft>
              <a:buSzPct val="100000"/>
              <a:buChar char="▪"/>
            </a:pPr>
            <a:r>
              <a:rPr lang="en-US" sz="1200" dirty="0">
                <a:solidFill>
                  <a:srgbClr val="B7BDCC"/>
                </a:solidFill>
                <a:latin typeface="Calibri" pitchFamily="34" charset="0"/>
                <a:ea typeface="Calibri" pitchFamily="34" charset="-122"/>
                <a:cs typeface="Calibri" pitchFamily="34" charset="-120"/>
              </a:rPr>
              <a:t>Simulation (FSSIM, built on Gazebo with a custom first-principles vehicle model) runs automatically on every code change and every night.</a:t>
            </a:r>
            <a:endParaRPr lang="en-US" sz="1200" dirty="0"/>
          </a:p>
          <a:p>
            <a:pPr marL="228600" indent="-228600">
              <a:lnSpc>
                <a:spcPts val="1620"/>
              </a:lnSpc>
              <a:spcAft>
                <a:spcPts val="1000"/>
              </a:spcAft>
              <a:buSzPct val="100000"/>
              <a:buChar char="▪"/>
            </a:pPr>
            <a:r>
              <a:rPr lang="en-US" sz="1200" dirty="0">
                <a:solidFill>
                  <a:srgbClr val="B7BDCC"/>
                </a:solidFill>
                <a:latin typeface="Calibri" pitchFamily="34" charset="0"/>
                <a:ea typeface="Calibri" pitchFamily="34" charset="-122"/>
                <a:cs typeface="Calibri" pitchFamily="34" charset="-120"/>
              </a:rPr>
              <a:t>Direct cone observations with realistic noise are simulated — sensor-level simulation is skipped to keep it fast and lightweight.</a:t>
            </a:r>
            <a:endParaRPr lang="en-US" sz="1200" dirty="0"/>
          </a:p>
        </p:txBody>
      </p:sp>
      <p:sp>
        <p:nvSpPr>
          <p:cNvPr id="10" name="Shape 7"/>
          <p:cNvSpPr/>
          <p:nvPr/>
        </p:nvSpPr>
        <p:spPr>
          <a:xfrm>
            <a:off x="6080760" y="1554480"/>
            <a:ext cx="5532120" cy="3931920"/>
          </a:xfrm>
          <a:prstGeom prst="roundRect">
            <a:avLst>
              <a:gd name="adj" fmla="val 1860"/>
            </a:avLst>
          </a:prstGeom>
          <a:solidFill>
            <a:srgbClr val="141924"/>
          </a:solidFill>
          <a:ln/>
        </p:spPr>
      </p:sp>
      <p:sp>
        <p:nvSpPr>
          <p:cNvPr id="11" name="Text 8"/>
          <p:cNvSpPr/>
          <p:nvPr/>
        </p:nvSpPr>
        <p:spPr>
          <a:xfrm>
            <a:off x="6355080" y="1737360"/>
            <a:ext cx="5029200" cy="320040"/>
          </a:xfrm>
          <a:prstGeom prst="rect">
            <a:avLst/>
          </a:prstGeom>
          <a:noFill/>
          <a:ln/>
        </p:spPr>
        <p:txBody>
          <a:bodyPr wrap="square" rtlCol="0" anchor="ctr"/>
          <a:lstStyle/>
          <a:p>
            <a:pPr marL="0" indent="0">
              <a:buNone/>
            </a:pPr>
            <a:r>
              <a:rPr lang="en-US" sz="1400" b="1" dirty="0">
                <a:solidFill>
                  <a:srgbClr val="E63946"/>
                </a:solidFill>
                <a:latin typeface="Calibri" pitchFamily="34" charset="0"/>
                <a:ea typeface="Calibri" pitchFamily="34" charset="-122"/>
                <a:cs typeface="Calibri" pitchFamily="34" charset="-120"/>
              </a:rPr>
              <a:t>Automated Testing System (ATS)</a:t>
            </a:r>
            <a:endParaRPr lang="en-US" sz="1400" dirty="0"/>
          </a:p>
        </p:txBody>
      </p:sp>
      <p:sp>
        <p:nvSpPr>
          <p:cNvPr id="12" name="Text 9"/>
          <p:cNvSpPr/>
          <p:nvPr/>
        </p:nvSpPr>
        <p:spPr>
          <a:xfrm>
            <a:off x="6355080" y="2103120"/>
            <a:ext cx="5029200" cy="3200400"/>
          </a:xfrm>
          <a:prstGeom prst="rect">
            <a:avLst/>
          </a:prstGeom>
          <a:noFill/>
          <a:ln/>
        </p:spPr>
        <p:txBody>
          <a:bodyPr wrap="square" lIns="0" tIns="0" rIns="0" bIns="0" rtlCol="0" anchor="t"/>
          <a:lstStyle/>
          <a:p>
            <a:pPr marL="228600" indent="-228600">
              <a:lnSpc>
                <a:spcPts val="1620"/>
              </a:lnSpc>
              <a:spcAft>
                <a:spcPts val="1000"/>
              </a:spcAft>
              <a:buSzPct val="100000"/>
              <a:buChar char="▪"/>
            </a:pPr>
            <a:r>
              <a:rPr lang="en-US" sz="1200" dirty="0">
                <a:solidFill>
                  <a:srgbClr val="B7BDCC"/>
                </a:solidFill>
                <a:latin typeface="Calibri" pitchFamily="34" charset="0"/>
                <a:ea typeface="Calibri" pitchFamily="34" charset="-122"/>
                <a:cs typeface="Calibri" pitchFamily="34" charset="-120"/>
              </a:rPr>
              <a:t>Every test/simulation run produces large volumes of logged data (rosbags) — far too much to review manually.</a:t>
            </a:r>
            <a:endParaRPr lang="en-US" sz="1200" dirty="0"/>
          </a:p>
          <a:p>
            <a:pPr marL="228600" indent="-228600">
              <a:lnSpc>
                <a:spcPts val="1620"/>
              </a:lnSpc>
              <a:spcAft>
                <a:spcPts val="1000"/>
              </a:spcAft>
              <a:buSzPct val="100000"/>
              <a:buChar char="▪"/>
            </a:pPr>
            <a:r>
              <a:rPr lang="en-US" sz="1200" dirty="0">
                <a:solidFill>
                  <a:srgbClr val="B7BDCC"/>
                </a:solidFill>
                <a:latin typeface="Calibri" pitchFamily="34" charset="0"/>
                <a:ea typeface="Calibri" pitchFamily="34" charset="-122"/>
                <a:cs typeface="Calibri" pitchFamily="34" charset="-120"/>
              </a:rPr>
              <a:t>A bookkeeping service queues and distributes simulation and visualization tasks to worker nodes automatically.</a:t>
            </a:r>
            <a:endParaRPr lang="en-US" sz="1200" dirty="0"/>
          </a:p>
          <a:p>
            <a:pPr marL="228600" indent="-228600">
              <a:lnSpc>
                <a:spcPts val="1620"/>
              </a:lnSpc>
              <a:spcAft>
                <a:spcPts val="1000"/>
              </a:spcAft>
              <a:buSzPct val="100000"/>
              <a:buChar char="▪"/>
            </a:pPr>
            <a:r>
              <a:rPr lang="en-US" sz="1200" dirty="0">
                <a:solidFill>
                  <a:srgbClr val="B7BDCC"/>
                </a:solidFill>
                <a:latin typeface="Calibri" pitchFamily="34" charset="0"/>
                <a:ea typeface="Calibri" pitchFamily="34" charset="-122"/>
                <a:cs typeface="Calibri" pitchFamily="34" charset="-120"/>
              </a:rPr>
              <a:t>Results are indexed and visualized through a web interface, and failures trigger automatic notifications — shortening the iteration loop and catching regressions early.</a:t>
            </a:r>
            <a:endParaRPr lang="en-US" sz="1200" dirty="0"/>
          </a:p>
        </p:txBody>
      </p:sp>
      <p:sp>
        <p:nvSpPr>
          <p:cNvPr id="14" name="Text 11"/>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A91A6"/>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3291840" y="4206240"/>
            <a:ext cx="6400800" cy="6400800"/>
          </a:xfrm>
          <a:prstGeom prst="ellipse">
            <a:avLst/>
          </a:prstGeom>
          <a:ln w="19050">
            <a:solidFill>
              <a:srgbClr val="2A3245"/>
            </a:solidFill>
            <a:prstDash val="solid"/>
          </a:ln>
        </p:spPr>
      </p:sp>
      <p:sp>
        <p:nvSpPr>
          <p:cNvPr id="3" name="Shape 1"/>
          <p:cNvSpPr/>
          <p:nvPr/>
        </p:nvSpPr>
        <p:spPr>
          <a:xfrm>
            <a:off x="-2651760" y="4846320"/>
            <a:ext cx="5120640" cy="5120640"/>
          </a:xfrm>
          <a:prstGeom prst="ellipse">
            <a:avLst/>
          </a:prstGeom>
          <a:ln w="19050">
            <a:solidFill>
              <a:srgbClr val="E63946"/>
            </a:solidFill>
            <a:prstDash val="solid"/>
          </a:ln>
        </p:spPr>
      </p:sp>
      <p:sp>
        <p:nvSpPr>
          <p:cNvPr id="4" name="Shape 2"/>
          <p:cNvSpPr/>
          <p:nvPr/>
        </p:nvSpPr>
        <p:spPr>
          <a:xfrm>
            <a:off x="822960" y="640080"/>
            <a:ext cx="640080" cy="640080"/>
          </a:xfrm>
          <a:prstGeom prst="ellipse">
            <a:avLst/>
          </a:prstGeom>
          <a:solidFill>
            <a:srgbClr val="E63946"/>
          </a:solidFill>
          <a:ln/>
        </p:spPr>
      </p:sp>
      <p:pic>
        <p:nvPicPr>
          <p:cNvPr id="5" name="Image 0" descr="/home/claude/amz_deck/icons/trophy.png"/>
          <p:cNvPicPr>
            <a:picLocks noChangeAspect="1"/>
          </p:cNvPicPr>
          <p:nvPr/>
        </p:nvPicPr>
        <p:blipFill>
          <a:blip r:embed="rId3"/>
          <a:stretch>
            <a:fillRect/>
          </a:stretch>
        </p:blipFill>
        <p:spPr>
          <a:xfrm>
            <a:off x="976579" y="793699"/>
            <a:ext cx="332842" cy="332842"/>
          </a:xfrm>
          <a:prstGeom prst="rect">
            <a:avLst/>
          </a:prstGeom>
        </p:spPr>
      </p:pic>
      <p:sp>
        <p:nvSpPr>
          <p:cNvPr id="6" name="Text 3"/>
          <p:cNvSpPr/>
          <p:nvPr/>
        </p:nvSpPr>
        <p:spPr>
          <a:xfrm>
            <a:off x="1645920" y="685800"/>
            <a:ext cx="5486400" cy="274320"/>
          </a:xfrm>
          <a:prstGeom prst="rect">
            <a:avLst/>
          </a:prstGeom>
          <a:noFill/>
          <a:ln/>
        </p:spPr>
        <p:txBody>
          <a:bodyPr wrap="square" rtlCol="0" anchor="ctr"/>
          <a:lstStyle/>
          <a:p>
            <a:pPr marL="0" indent="0">
              <a:buNone/>
            </a:pPr>
            <a:r>
              <a:rPr lang="en-US" sz="1300" b="1" kern="0" spc="200" dirty="0">
                <a:solidFill>
                  <a:srgbClr val="E63946"/>
                </a:solidFill>
                <a:latin typeface="Calibri" pitchFamily="34" charset="0"/>
                <a:ea typeface="Calibri" pitchFamily="34" charset="-122"/>
                <a:cs typeface="Calibri" pitchFamily="34" charset="-120"/>
              </a:rPr>
              <a:t>TAKEAWAY</a:t>
            </a:r>
            <a:endParaRPr lang="en-US" sz="1300" dirty="0"/>
          </a:p>
        </p:txBody>
      </p:sp>
      <p:sp>
        <p:nvSpPr>
          <p:cNvPr id="7" name="Text 4"/>
          <p:cNvSpPr/>
          <p:nvPr/>
        </p:nvSpPr>
        <p:spPr>
          <a:xfrm>
            <a:off x="1645920" y="960120"/>
            <a:ext cx="9601200" cy="54864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One Integrated System, Proven on Track</a:t>
            </a:r>
            <a:endParaRPr lang="en-US" sz="2800" dirty="0"/>
          </a:p>
        </p:txBody>
      </p:sp>
      <p:sp>
        <p:nvSpPr>
          <p:cNvPr id="8" name="Text 5"/>
          <p:cNvSpPr/>
          <p:nvPr/>
        </p:nvSpPr>
        <p:spPr>
          <a:xfrm>
            <a:off x="1645920" y="1691640"/>
            <a:ext cx="9784080" cy="3108960"/>
          </a:xfrm>
          <a:prstGeom prst="rect">
            <a:avLst/>
          </a:prstGeom>
          <a:noFill/>
          <a:ln/>
        </p:spPr>
        <p:txBody>
          <a:bodyPr wrap="square" lIns="0" tIns="0" rIns="0" bIns="0" rtlCol="0" anchor="t"/>
          <a:lstStyle/>
          <a:p>
            <a:pPr marL="228600" indent="-228600">
              <a:lnSpc>
                <a:spcPts val="2025"/>
              </a:lnSpc>
              <a:spcAft>
                <a:spcPts val="1800"/>
              </a:spcAft>
              <a:buSzPct val="100000"/>
              <a:buChar char="▪"/>
            </a:pPr>
            <a:r>
              <a:rPr lang="en-US" sz="1500" dirty="0">
                <a:solidFill>
                  <a:srgbClr val="B7BDCC"/>
                </a:solidFill>
                <a:latin typeface="Calibri" pitchFamily="34" charset="0"/>
                <a:ea typeface="Calibri" pitchFamily="34" charset="-122"/>
                <a:cs typeface="Calibri" pitchFamily="34" charset="-120"/>
              </a:rPr>
              <a:t>Redundant perception (LiDAR + camera), a fault-tolerant 9-state EKF for motion, particle-filter SLAM, and nonlinear MPC control are combined into one real-time racing stack.</a:t>
            </a:r>
            <a:endParaRPr lang="en-US" sz="1500" dirty="0"/>
          </a:p>
          <a:p>
            <a:pPr marL="228600" indent="-228600">
              <a:lnSpc>
                <a:spcPts val="2025"/>
              </a:lnSpc>
              <a:spcAft>
                <a:spcPts val="1800"/>
              </a:spcAft>
              <a:buSzPct val="100000"/>
              <a:buChar char="▪"/>
            </a:pPr>
            <a:r>
              <a:rPr lang="en-US" sz="1500" dirty="0">
                <a:solidFill>
                  <a:srgbClr val="B7BDCC"/>
                </a:solidFill>
                <a:latin typeface="Calibri" pitchFamily="34" charset="0"/>
                <a:ea typeface="Calibri" pitchFamily="34" charset="-122"/>
                <a:cs typeface="Calibri" pitchFamily="34" charset="-120"/>
              </a:rPr>
              <a:t>The result: 1st place overall at every Formula Student Driverless competition entered — proof the system reliably races and finishes on previously unknown tracks.</a:t>
            </a:r>
            <a:endParaRPr lang="en-US" sz="1500" dirty="0"/>
          </a:p>
          <a:p>
            <a:pPr marL="228600" indent="-228600">
              <a:lnSpc>
                <a:spcPts val="2025"/>
              </a:lnSpc>
              <a:spcAft>
                <a:spcPts val="1800"/>
              </a:spcAft>
              <a:buSzPct val="100000"/>
              <a:buChar char="▪"/>
            </a:pPr>
            <a:r>
              <a:rPr lang="en-US" sz="1500" dirty="0">
                <a:solidFill>
                  <a:srgbClr val="B7BDCC"/>
                </a:solidFill>
                <a:latin typeface="Calibri" pitchFamily="34" charset="0"/>
                <a:ea typeface="Calibri" pitchFamily="34" charset="-122"/>
                <a:cs typeface="Calibri" pitchFamily="34" charset="-120"/>
              </a:rPr>
              <a:t>The consistent design theme across every module: assume any single sensor or estimate can fail, and build in redundancy and failure detection accordingly.</a:t>
            </a:r>
            <a:endParaRPr lang="en-US" sz="1500" dirty="0"/>
          </a:p>
        </p:txBody>
      </p:sp>
      <p:sp>
        <p:nvSpPr>
          <p:cNvPr id="9" name="Shape 6"/>
          <p:cNvSpPr/>
          <p:nvPr/>
        </p:nvSpPr>
        <p:spPr>
          <a:xfrm>
            <a:off x="1645920" y="5074920"/>
            <a:ext cx="9692640" cy="0"/>
          </a:xfrm>
          <a:prstGeom prst="line">
            <a:avLst/>
          </a:prstGeom>
          <a:noFill/>
          <a:ln w="12700">
            <a:solidFill>
              <a:srgbClr val="2A3245"/>
            </a:solidFill>
            <a:prstDash val="solid"/>
          </a:ln>
        </p:spPr>
      </p:sp>
      <p:sp>
        <p:nvSpPr>
          <p:cNvPr id="11" name="Text 8"/>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A91A6"/>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E14"/>
        </a:solidFill>
        <a:effectLst/>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E63946"/>
          </a:solidFill>
          <a:ln/>
        </p:spPr>
      </p:sp>
      <p:pic>
        <p:nvPicPr>
          <p:cNvPr id="3" name="Image 0" descr="/home/claude/amz_deck/icons/robot.png"/>
          <p:cNvPicPr>
            <a:picLocks noChangeAspect="1"/>
          </p:cNvPicPr>
          <p:nvPr/>
        </p:nvPicPr>
        <p:blipFill>
          <a:blip r:embed="rId3"/>
          <a:stretch>
            <a:fillRect/>
          </a:stretch>
        </p:blipFill>
        <p:spPr>
          <a:xfrm>
            <a:off x="676656" y="585216"/>
            <a:ext cx="310896" cy="310896"/>
          </a:xfrm>
          <a:prstGeom prst="rect">
            <a:avLst/>
          </a:prstGeom>
        </p:spPr>
      </p:pic>
      <p:sp>
        <p:nvSpPr>
          <p:cNvPr id="4" name="Text 1"/>
          <p:cNvSpPr/>
          <p:nvPr/>
        </p:nvSpPr>
        <p:spPr>
          <a:xfrm>
            <a:off x="1325880" y="438912"/>
            <a:ext cx="10314432" cy="274320"/>
          </a:xfrm>
          <a:prstGeom prst="rect">
            <a:avLst/>
          </a:prstGeom>
          <a:noFill/>
          <a:ln/>
        </p:spPr>
        <p:txBody>
          <a:bodyPr wrap="square" rtlCol="0" anchor="ctr"/>
          <a:lstStyle/>
          <a:p>
            <a:pPr marL="0" indent="0">
              <a:buNone/>
            </a:pPr>
            <a:r>
              <a:rPr lang="en-US" sz="1200" b="1" kern="0" spc="200" dirty="0">
                <a:solidFill>
                  <a:srgbClr val="E63946"/>
                </a:solidFill>
                <a:latin typeface="Calibri" pitchFamily="34" charset="0"/>
                <a:ea typeface="Calibri" pitchFamily="34" charset="-122"/>
                <a:cs typeface="Calibri" pitchFamily="34" charset="-120"/>
              </a:rPr>
              <a:t>DISCLOSURE</a:t>
            </a:r>
            <a:endParaRPr lang="en-US" sz="1200" dirty="0"/>
          </a:p>
        </p:txBody>
      </p:sp>
      <p:sp>
        <p:nvSpPr>
          <p:cNvPr id="5" name="Text 2"/>
          <p:cNvSpPr/>
          <p:nvPr/>
        </p:nvSpPr>
        <p:spPr>
          <a:xfrm>
            <a:off x="1325880" y="658368"/>
            <a:ext cx="10314432" cy="548640"/>
          </a:xfrm>
          <a:prstGeom prst="rect">
            <a:avLst/>
          </a:prstGeom>
          <a:noFill/>
          <a:ln/>
        </p:spPr>
        <p:txBody>
          <a:bodyPr wrap="square" lIns="0" tIns="0" rIns="0" bIns="0" rtlCol="0" anchor="ctr"/>
          <a:lstStyle/>
          <a:p>
            <a:pPr marL="0" indent="0">
              <a:buNone/>
            </a:pPr>
            <a:r>
              <a:rPr lang="en-US" sz="3000" b="1">
                <a:solidFill>
                  <a:srgbClr val="FFFFFF"/>
                </a:solidFill>
                <a:latin typeface="Cambria"/>
                <a:ea typeface="Cambria"/>
                <a:cs typeface="Cambria" pitchFamily="34" charset="-120"/>
              </a:rPr>
              <a:t>How AI Was Used</a:t>
            </a:r>
            <a:endParaRPr lang="en-US" sz="3000">
              <a:latin typeface="Cambria"/>
              <a:ea typeface="Cambria"/>
            </a:endParaRPr>
          </a:p>
        </p:txBody>
      </p:sp>
      <p:sp>
        <p:nvSpPr>
          <p:cNvPr id="6" name="Shape 3"/>
          <p:cNvSpPr/>
          <p:nvPr/>
        </p:nvSpPr>
        <p:spPr>
          <a:xfrm>
            <a:off x="548640" y="1234440"/>
            <a:ext cx="11091672" cy="0"/>
          </a:xfrm>
          <a:prstGeom prst="line">
            <a:avLst/>
          </a:prstGeom>
          <a:noFill/>
          <a:ln w="12700">
            <a:solidFill>
              <a:srgbClr val="2A3245"/>
            </a:solidFill>
            <a:prstDash val="solid"/>
          </a:ln>
        </p:spPr>
      </p:sp>
      <p:sp>
        <p:nvSpPr>
          <p:cNvPr id="7" name="Shape 4"/>
          <p:cNvSpPr/>
          <p:nvPr/>
        </p:nvSpPr>
        <p:spPr>
          <a:xfrm>
            <a:off x="548640" y="1554480"/>
            <a:ext cx="11064240" cy="4206240"/>
          </a:xfrm>
          <a:prstGeom prst="roundRect">
            <a:avLst>
              <a:gd name="adj" fmla="val 1739"/>
            </a:avLst>
          </a:prstGeom>
          <a:solidFill>
            <a:srgbClr val="141924"/>
          </a:solidFill>
          <a:ln/>
        </p:spPr>
      </p:sp>
      <p:sp>
        <p:nvSpPr>
          <p:cNvPr id="8" name="Text 5"/>
          <p:cNvSpPr/>
          <p:nvPr/>
        </p:nvSpPr>
        <p:spPr>
          <a:xfrm>
            <a:off x="868680" y="1783080"/>
            <a:ext cx="10424160" cy="3749040"/>
          </a:xfrm>
          <a:prstGeom prst="rect">
            <a:avLst/>
          </a:prstGeom>
          <a:noFill/>
          <a:ln/>
        </p:spPr>
        <p:txBody>
          <a:bodyPr wrap="square" lIns="0" tIns="0" rIns="0" bIns="0" rtlCol="0" anchor="t"/>
          <a:lstStyle/>
          <a:p>
            <a:pPr marL="228600" indent="-228600">
              <a:lnSpc>
                <a:spcPts val="1958"/>
              </a:lnSpc>
              <a:spcAft>
                <a:spcPts val="1600"/>
              </a:spcAft>
              <a:buSzPct val="100000"/>
              <a:buChar char="▪"/>
            </a:pPr>
            <a:r>
              <a:rPr lang="en-US" sz="1450" dirty="0">
                <a:solidFill>
                  <a:srgbClr val="B7BDCC"/>
                </a:solidFill>
                <a:latin typeface="Calibri"/>
                <a:ea typeface="Calibri"/>
                <a:cs typeface="Calibri"/>
              </a:rPr>
              <a:t>Claude was used to help structure this presentation: organizing the paper's content, and designing the visual template.</a:t>
            </a:r>
            <a:endParaRPr lang="en-US" sz="1450" dirty="0">
              <a:latin typeface="Calibri"/>
              <a:ea typeface="Calibri"/>
              <a:cs typeface="Calibri"/>
            </a:endParaRPr>
          </a:p>
          <a:p>
            <a:pPr marL="228600" indent="-228600">
              <a:lnSpc>
                <a:spcPts val="1958"/>
              </a:lnSpc>
              <a:spcAft>
                <a:spcPts val="1600"/>
              </a:spcAft>
              <a:buSzPct val="100000"/>
              <a:buChar char="▪"/>
            </a:pPr>
            <a:r>
              <a:rPr lang="en-US" sz="1450">
                <a:solidFill>
                  <a:srgbClr val="B7BDCC"/>
                </a:solidFill>
                <a:latin typeface="Calibri"/>
                <a:ea typeface="Calibri"/>
                <a:cs typeface="Calibri"/>
              </a:rPr>
              <a:t>I am prepared to discuss every point in this deck directly in the interview.</a:t>
            </a:r>
            <a:endParaRPr lang="en-US" sz="1450">
              <a:latin typeface="Calibri"/>
              <a:ea typeface="Calibri"/>
              <a:cs typeface="Calibri"/>
            </a:endParaRPr>
          </a:p>
        </p:txBody>
      </p:sp>
      <p:sp>
        <p:nvSpPr>
          <p:cNvPr id="9" name="Text 6"/>
          <p:cNvSpPr/>
          <p:nvPr/>
        </p:nvSpPr>
        <p:spPr>
          <a:xfrm>
            <a:off x="11365992" y="6400800"/>
            <a:ext cx="548640" cy="274320"/>
          </a:xfrm>
          <a:prstGeom prst="rect">
            <a:avLst/>
          </a:prstGeom>
          <a:noFill/>
          <a:ln/>
        </p:spPr>
        <p:txBody>
          <a:bodyPr wrap="square" rtlCol="0" anchor="ctr"/>
          <a:lstStyle/>
          <a:p>
            <a:pPr marL="0" indent="0" algn="r">
              <a:buNone/>
            </a:pPr>
            <a:r>
              <a:rPr lang="en-US" sz="1000" dirty="0">
                <a:solidFill>
                  <a:srgbClr val="8A91A6"/>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47</cp:revision>
  <dcterms:created xsi:type="dcterms:W3CDTF">2026-08-21T02:05:19Z</dcterms:created>
  <dcterms:modified xsi:type="dcterms:W3CDTF">2026-08-21T04:02:33Z</dcterms:modified>
</cp:coreProperties>
</file>